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5143500" cx="9144000"/>
  <p:notesSz cx="6858000" cy="9144000"/>
  <p:embeddedFontLst>
    <p:embeddedFont>
      <p:font typeface="Nunito"/>
      <p:regular r:id="rId23"/>
      <p:bold r:id="rId24"/>
      <p:italic r:id="rId25"/>
      <p:boldItalic r:id="rId26"/>
    </p:embeddedFont>
    <p:embeddedFont>
      <p:font typeface="Roboto Mono"/>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Nunito-bold.fntdata"/><Relationship Id="rId23" Type="http://schemas.openxmlformats.org/officeDocument/2006/relationships/font" Target="fonts/Nunito-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Nunito-boldItalic.fntdata"/><Relationship Id="rId25" Type="http://schemas.openxmlformats.org/officeDocument/2006/relationships/font" Target="fonts/Nunito-italic.fntdata"/><Relationship Id="rId28" Type="http://schemas.openxmlformats.org/officeDocument/2006/relationships/font" Target="fonts/RobotoMono-bold.fntdata"/><Relationship Id="rId27" Type="http://schemas.openxmlformats.org/officeDocument/2006/relationships/font" Target="fonts/RobotoMon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Mono-italic.fntdata"/><Relationship Id="rId7" Type="http://schemas.openxmlformats.org/officeDocument/2006/relationships/slide" Target="slides/slide2.xml"/><Relationship Id="rId8" Type="http://schemas.openxmlformats.org/officeDocument/2006/relationships/slide" Target="slides/slide3.xml"/><Relationship Id="rId30" Type="http://schemas.openxmlformats.org/officeDocument/2006/relationships/font" Target="fonts/RobotoMono-bold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21457fc196_0_2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21457fc196_0_2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1e490f5968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1e490f5968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1e490f596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1e490f596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1e490f5968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1e490f596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21457fc196_0_3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21457fc196_0_3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21457fc196_0_4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21457fc196_0_4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21457fc196_0_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21457fc196_0_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21457fc196_0_4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21457fc196_0_4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21457fc196_0_4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21457fc196_0_4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21457fc196_0_4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21457fc196_0_4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23d8c9fca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23d8c9fca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21457fc196_0_4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21457fc196_0_4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21457fc196_0_4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21457fc196_0_4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21457fc196_0_4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21457fc196_0_4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23fc4411f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23fc4411f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21457fc196_0_4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g321457fc196_0_4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6"/>
        </a:solidFill>
      </p:bgPr>
    </p:bg>
    <p:spTree>
      <p:nvGrpSpPr>
        <p:cNvPr id="9" name="Shape 9"/>
        <p:cNvGrpSpPr/>
        <p:nvPr/>
      </p:nvGrpSpPr>
      <p:grpSpPr>
        <a:xfrm>
          <a:off x="0" y="0"/>
          <a:ext cx="0" cy="0"/>
          <a:chOff x="0" y="0"/>
          <a:chExt cx="0" cy="0"/>
        </a:xfrm>
      </p:grpSpPr>
      <p:sp>
        <p:nvSpPr>
          <p:cNvPr id="10" name="Google Shape;10;p2"/>
          <p:cNvSpPr/>
          <p:nvPr/>
        </p:nvSpPr>
        <p:spPr>
          <a:xfrm>
            <a:off x="31" y="2824500"/>
            <a:ext cx="7370400" cy="23190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flipH="1">
            <a:off x="3582600" y="1550700"/>
            <a:ext cx="5561400" cy="35928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rot="10800000">
            <a:off x="5058905" y="0"/>
            <a:ext cx="4085100" cy="2052600"/>
          </a:xfrm>
          <a:prstGeom prst="rtTriangl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20327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 name="Google Shape;14;p2"/>
          <p:cNvGrpSpPr/>
          <p:nvPr/>
        </p:nvGrpSpPr>
        <p:grpSpPr>
          <a:xfrm>
            <a:off x="255200" y="592"/>
            <a:ext cx="2250363" cy="1044300"/>
            <a:chOff x="255200" y="592"/>
            <a:chExt cx="2250363" cy="1044300"/>
          </a:xfrm>
        </p:grpSpPr>
        <p:sp>
          <p:nvSpPr>
            <p:cNvPr id="15" name="Google Shape;15;p2"/>
            <p:cNvSpPr/>
            <p:nvPr/>
          </p:nvSpPr>
          <p:spPr>
            <a:xfrm>
              <a:off x="764063"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509632"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255200" y="592"/>
              <a:ext cx="1741500" cy="10443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 name="Google Shape;18;p2"/>
          <p:cNvGrpSpPr/>
          <p:nvPr/>
        </p:nvGrpSpPr>
        <p:grpSpPr>
          <a:xfrm>
            <a:off x="905395" y="592"/>
            <a:ext cx="2250363" cy="1044300"/>
            <a:chOff x="905395" y="592"/>
            <a:chExt cx="2250363" cy="1044300"/>
          </a:xfrm>
        </p:grpSpPr>
        <p:sp>
          <p:nvSpPr>
            <p:cNvPr id="19" name="Google Shape;19;p2"/>
            <p:cNvSpPr/>
            <p:nvPr/>
          </p:nvSpPr>
          <p:spPr>
            <a:xfrm>
              <a:off x="1414258"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1159826"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905395" y="592"/>
              <a:ext cx="1741500" cy="1044300"/>
            </a:xfrm>
            <a:prstGeom prst="parallelogram">
              <a:avLst>
                <a:gd fmla="val 153193"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 name="Google Shape;22;p2"/>
          <p:cNvGrpSpPr/>
          <p:nvPr/>
        </p:nvGrpSpPr>
        <p:grpSpPr>
          <a:xfrm>
            <a:off x="7057468" y="5088"/>
            <a:ext cx="1851282" cy="752108"/>
            <a:chOff x="6917201" y="0"/>
            <a:chExt cx="2227777" cy="863400"/>
          </a:xfrm>
        </p:grpSpPr>
        <p:sp>
          <p:nvSpPr>
            <p:cNvPr id="23" name="Google Shape;23;p2"/>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2"/>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 name="Google Shape;26;p2"/>
          <p:cNvGrpSpPr/>
          <p:nvPr/>
        </p:nvGrpSpPr>
        <p:grpSpPr>
          <a:xfrm>
            <a:off x="6553032" y="4217852"/>
            <a:ext cx="2389068" cy="925737"/>
            <a:chOff x="6917201" y="0"/>
            <a:chExt cx="2227777" cy="863400"/>
          </a:xfrm>
        </p:grpSpPr>
        <p:sp>
          <p:nvSpPr>
            <p:cNvPr id="27" name="Google Shape;27;p2"/>
            <p:cNvSpPr/>
            <p:nvPr/>
          </p:nvSpPr>
          <p:spPr>
            <a:xfrm>
              <a:off x="7641677"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7279439"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6917201" y="0"/>
              <a:ext cx="1503300" cy="863400"/>
            </a:xfrm>
            <a:prstGeom prst="parallelogram">
              <a:avLst>
                <a:gd fmla="val 158024"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 name="Google Shape;30;p2"/>
          <p:cNvGrpSpPr/>
          <p:nvPr/>
        </p:nvGrpSpPr>
        <p:grpSpPr>
          <a:xfrm>
            <a:off x="199149" y="4055652"/>
            <a:ext cx="2795414" cy="1083308"/>
            <a:chOff x="6917201" y="0"/>
            <a:chExt cx="2227777" cy="863400"/>
          </a:xfrm>
        </p:grpSpPr>
        <p:sp>
          <p:nvSpPr>
            <p:cNvPr id="31" name="Google Shape;31;p2"/>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 name="Google Shape;34;p2"/>
          <p:cNvSpPr txBox="1"/>
          <p:nvPr>
            <p:ph type="ctrTitle"/>
          </p:nvPr>
        </p:nvSpPr>
        <p:spPr>
          <a:xfrm>
            <a:off x="1858703" y="1822833"/>
            <a:ext cx="5361300" cy="14481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35" name="Google Shape;35;p2"/>
          <p:cNvSpPr txBox="1"/>
          <p:nvPr>
            <p:ph idx="1" type="subTitle"/>
          </p:nvPr>
        </p:nvSpPr>
        <p:spPr>
          <a:xfrm>
            <a:off x="1858700" y="3413158"/>
            <a:ext cx="5361300" cy="52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lt1"/>
              </a:buClr>
              <a:buSzPts val="1600"/>
              <a:buNone/>
              <a:defRPr sz="1600">
                <a:solidFill>
                  <a:schemeClr val="lt1"/>
                </a:solidFill>
              </a:defRPr>
            </a:lvl1pPr>
            <a:lvl2pPr lvl="1" algn="ctr">
              <a:lnSpc>
                <a:spcPct val="100000"/>
              </a:lnSpc>
              <a:spcBef>
                <a:spcPts val="0"/>
              </a:spcBef>
              <a:spcAft>
                <a:spcPts val="0"/>
              </a:spcAft>
              <a:buClr>
                <a:schemeClr val="lt1"/>
              </a:buClr>
              <a:buSzPts val="1600"/>
              <a:buNone/>
              <a:defRPr sz="1600">
                <a:solidFill>
                  <a:schemeClr val="lt1"/>
                </a:solidFill>
              </a:defRPr>
            </a:lvl2pPr>
            <a:lvl3pPr lvl="2" algn="ctr">
              <a:lnSpc>
                <a:spcPct val="100000"/>
              </a:lnSpc>
              <a:spcBef>
                <a:spcPts val="0"/>
              </a:spcBef>
              <a:spcAft>
                <a:spcPts val="0"/>
              </a:spcAft>
              <a:buClr>
                <a:schemeClr val="lt1"/>
              </a:buClr>
              <a:buSzPts val="1600"/>
              <a:buNone/>
              <a:defRPr sz="1600">
                <a:solidFill>
                  <a:schemeClr val="lt1"/>
                </a:solidFill>
              </a:defRPr>
            </a:lvl3pPr>
            <a:lvl4pPr lvl="3" algn="ctr">
              <a:lnSpc>
                <a:spcPct val="100000"/>
              </a:lnSpc>
              <a:spcBef>
                <a:spcPts val="0"/>
              </a:spcBef>
              <a:spcAft>
                <a:spcPts val="0"/>
              </a:spcAft>
              <a:buClr>
                <a:schemeClr val="lt1"/>
              </a:buClr>
              <a:buSzPts val="1600"/>
              <a:buNone/>
              <a:defRPr sz="1600">
                <a:solidFill>
                  <a:schemeClr val="lt1"/>
                </a:solidFill>
              </a:defRPr>
            </a:lvl4pPr>
            <a:lvl5pPr lvl="4" algn="ctr">
              <a:lnSpc>
                <a:spcPct val="100000"/>
              </a:lnSpc>
              <a:spcBef>
                <a:spcPts val="0"/>
              </a:spcBef>
              <a:spcAft>
                <a:spcPts val="0"/>
              </a:spcAft>
              <a:buClr>
                <a:schemeClr val="lt1"/>
              </a:buClr>
              <a:buSzPts val="1600"/>
              <a:buNone/>
              <a:defRPr sz="1600">
                <a:solidFill>
                  <a:schemeClr val="lt1"/>
                </a:solidFill>
              </a:defRPr>
            </a:lvl5pPr>
            <a:lvl6pPr lvl="5" algn="ctr">
              <a:lnSpc>
                <a:spcPct val="100000"/>
              </a:lnSpc>
              <a:spcBef>
                <a:spcPts val="0"/>
              </a:spcBef>
              <a:spcAft>
                <a:spcPts val="0"/>
              </a:spcAft>
              <a:buClr>
                <a:schemeClr val="lt1"/>
              </a:buClr>
              <a:buSzPts val="1600"/>
              <a:buNone/>
              <a:defRPr sz="1600">
                <a:solidFill>
                  <a:schemeClr val="lt1"/>
                </a:solidFill>
              </a:defRPr>
            </a:lvl6pPr>
            <a:lvl7pPr lvl="6" algn="ctr">
              <a:lnSpc>
                <a:spcPct val="100000"/>
              </a:lnSpc>
              <a:spcBef>
                <a:spcPts val="0"/>
              </a:spcBef>
              <a:spcAft>
                <a:spcPts val="0"/>
              </a:spcAft>
              <a:buClr>
                <a:schemeClr val="lt1"/>
              </a:buClr>
              <a:buSzPts val="1600"/>
              <a:buNone/>
              <a:defRPr sz="1600">
                <a:solidFill>
                  <a:schemeClr val="lt1"/>
                </a:solidFill>
              </a:defRPr>
            </a:lvl7pPr>
            <a:lvl8pPr lvl="7" algn="ctr">
              <a:lnSpc>
                <a:spcPct val="100000"/>
              </a:lnSpc>
              <a:spcBef>
                <a:spcPts val="0"/>
              </a:spcBef>
              <a:spcAft>
                <a:spcPts val="0"/>
              </a:spcAft>
              <a:buClr>
                <a:schemeClr val="lt1"/>
              </a:buClr>
              <a:buSzPts val="1600"/>
              <a:buNone/>
              <a:defRPr sz="1600">
                <a:solidFill>
                  <a:schemeClr val="lt1"/>
                </a:solidFill>
              </a:defRPr>
            </a:lvl8pPr>
            <a:lvl9pPr lvl="8" algn="ctr">
              <a:lnSpc>
                <a:spcPct val="100000"/>
              </a:lnSpc>
              <a:spcBef>
                <a:spcPts val="0"/>
              </a:spcBef>
              <a:spcAft>
                <a:spcPts val="0"/>
              </a:spcAft>
              <a:buClr>
                <a:schemeClr val="lt1"/>
              </a:buClr>
              <a:buSzPts val="1600"/>
              <a:buNone/>
              <a:defRPr sz="1600">
                <a:solidFill>
                  <a:schemeClr val="lt1"/>
                </a:solidFill>
              </a:defRPr>
            </a:lvl9pPr>
          </a:lstStyle>
          <a:p/>
        </p:txBody>
      </p:sp>
      <p:sp>
        <p:nvSpPr>
          <p:cNvPr id="36" name="Google Shape;36;p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3"/>
        </a:solidFill>
      </p:bgPr>
    </p:bg>
    <p:spTree>
      <p:nvGrpSpPr>
        <p:cNvPr id="37" name="Shape 37"/>
        <p:cNvGrpSpPr/>
        <p:nvPr/>
      </p:nvGrpSpPr>
      <p:grpSpPr>
        <a:xfrm>
          <a:off x="0" y="0"/>
          <a:ext cx="0" cy="0"/>
          <a:chOff x="0" y="0"/>
          <a:chExt cx="0" cy="0"/>
        </a:xfrm>
      </p:grpSpPr>
      <p:sp>
        <p:nvSpPr>
          <p:cNvPr id="38" name="Google Shape;38;p3"/>
          <p:cNvSpPr/>
          <p:nvPr/>
        </p:nvSpPr>
        <p:spPr>
          <a:xfrm flipH="1">
            <a:off x="4757100" y="2309400"/>
            <a:ext cx="4386900" cy="283410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 name="Google Shape;39;p3"/>
          <p:cNvGrpSpPr/>
          <p:nvPr/>
        </p:nvGrpSpPr>
        <p:grpSpPr>
          <a:xfrm>
            <a:off x="5594191" y="3961115"/>
            <a:ext cx="2910145" cy="1182340"/>
            <a:chOff x="6917201" y="0"/>
            <a:chExt cx="2227777" cy="863400"/>
          </a:xfrm>
        </p:grpSpPr>
        <p:sp>
          <p:nvSpPr>
            <p:cNvPr id="40" name="Google Shape;40;p3"/>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3"/>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 name="Google Shape;43;p3"/>
          <p:cNvGrpSpPr/>
          <p:nvPr/>
        </p:nvGrpSpPr>
        <p:grpSpPr>
          <a:xfrm>
            <a:off x="199149" y="2"/>
            <a:ext cx="2795414" cy="1083308"/>
            <a:chOff x="6917201" y="0"/>
            <a:chExt cx="2227777" cy="863400"/>
          </a:xfrm>
        </p:grpSpPr>
        <p:sp>
          <p:nvSpPr>
            <p:cNvPr id="44" name="Google Shape;44;p3"/>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3"/>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3"/>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 name="Google Shape;47;p3"/>
          <p:cNvSpPr txBox="1"/>
          <p:nvPr>
            <p:ph type="title"/>
          </p:nvPr>
        </p:nvSpPr>
        <p:spPr>
          <a:xfrm>
            <a:off x="1888684" y="1746100"/>
            <a:ext cx="5377500" cy="16461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dk2"/>
              </a:buClr>
              <a:buSzPts val="3200"/>
              <a:buNone/>
              <a:defRPr sz="3200">
                <a:solidFill>
                  <a:schemeClr val="dk2"/>
                </a:solidFill>
              </a:defRPr>
            </a:lvl1pPr>
            <a:lvl2pPr lvl="1" algn="ctr">
              <a:spcBef>
                <a:spcPts val="0"/>
              </a:spcBef>
              <a:spcAft>
                <a:spcPts val="0"/>
              </a:spcAft>
              <a:buClr>
                <a:schemeClr val="dk2"/>
              </a:buClr>
              <a:buSzPts val="3200"/>
              <a:buNone/>
              <a:defRPr sz="3200">
                <a:solidFill>
                  <a:schemeClr val="dk2"/>
                </a:solidFill>
              </a:defRPr>
            </a:lvl2pPr>
            <a:lvl3pPr lvl="2" algn="ctr">
              <a:spcBef>
                <a:spcPts val="0"/>
              </a:spcBef>
              <a:spcAft>
                <a:spcPts val="0"/>
              </a:spcAft>
              <a:buClr>
                <a:schemeClr val="dk2"/>
              </a:buClr>
              <a:buSzPts val="3200"/>
              <a:buNone/>
              <a:defRPr sz="3200">
                <a:solidFill>
                  <a:schemeClr val="dk2"/>
                </a:solidFill>
              </a:defRPr>
            </a:lvl3pPr>
            <a:lvl4pPr lvl="3" algn="ctr">
              <a:spcBef>
                <a:spcPts val="0"/>
              </a:spcBef>
              <a:spcAft>
                <a:spcPts val="0"/>
              </a:spcAft>
              <a:buClr>
                <a:schemeClr val="dk2"/>
              </a:buClr>
              <a:buSzPts val="3200"/>
              <a:buNone/>
              <a:defRPr sz="3200">
                <a:solidFill>
                  <a:schemeClr val="dk2"/>
                </a:solidFill>
              </a:defRPr>
            </a:lvl4pPr>
            <a:lvl5pPr lvl="4" algn="ctr">
              <a:spcBef>
                <a:spcPts val="0"/>
              </a:spcBef>
              <a:spcAft>
                <a:spcPts val="0"/>
              </a:spcAft>
              <a:buClr>
                <a:schemeClr val="dk2"/>
              </a:buClr>
              <a:buSzPts val="3200"/>
              <a:buNone/>
              <a:defRPr sz="3200">
                <a:solidFill>
                  <a:schemeClr val="dk2"/>
                </a:solidFill>
              </a:defRPr>
            </a:lvl5pPr>
            <a:lvl6pPr lvl="5" algn="ctr">
              <a:spcBef>
                <a:spcPts val="0"/>
              </a:spcBef>
              <a:spcAft>
                <a:spcPts val="0"/>
              </a:spcAft>
              <a:buClr>
                <a:schemeClr val="dk2"/>
              </a:buClr>
              <a:buSzPts val="3200"/>
              <a:buNone/>
              <a:defRPr sz="3200">
                <a:solidFill>
                  <a:schemeClr val="dk2"/>
                </a:solidFill>
              </a:defRPr>
            </a:lvl6pPr>
            <a:lvl7pPr lvl="6" algn="ctr">
              <a:spcBef>
                <a:spcPts val="0"/>
              </a:spcBef>
              <a:spcAft>
                <a:spcPts val="0"/>
              </a:spcAft>
              <a:buClr>
                <a:schemeClr val="dk2"/>
              </a:buClr>
              <a:buSzPts val="3200"/>
              <a:buNone/>
              <a:defRPr sz="3200">
                <a:solidFill>
                  <a:schemeClr val="dk2"/>
                </a:solidFill>
              </a:defRPr>
            </a:lvl7pPr>
            <a:lvl8pPr lvl="7" algn="ctr">
              <a:spcBef>
                <a:spcPts val="0"/>
              </a:spcBef>
              <a:spcAft>
                <a:spcPts val="0"/>
              </a:spcAft>
              <a:buClr>
                <a:schemeClr val="dk2"/>
              </a:buClr>
              <a:buSzPts val="3200"/>
              <a:buNone/>
              <a:defRPr sz="3200">
                <a:solidFill>
                  <a:schemeClr val="dk2"/>
                </a:solidFill>
              </a:defRPr>
            </a:lvl8pPr>
            <a:lvl9pPr lvl="8" algn="ctr">
              <a:spcBef>
                <a:spcPts val="0"/>
              </a:spcBef>
              <a:spcAft>
                <a:spcPts val="0"/>
              </a:spcAft>
              <a:buClr>
                <a:schemeClr val="dk2"/>
              </a:buClr>
              <a:buSzPts val="3200"/>
              <a:buNone/>
              <a:defRPr sz="3200">
                <a:solidFill>
                  <a:schemeClr val="dk2"/>
                </a:solidFill>
              </a:defRPr>
            </a:lvl9pPr>
          </a:lstStyle>
          <a:p/>
        </p:txBody>
      </p:sp>
      <p:sp>
        <p:nvSpPr>
          <p:cNvPr id="48" name="Google Shape;48;p3"/>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dk2"/>
        </a:solidFill>
      </p:bgPr>
    </p:bg>
    <p:spTree>
      <p:nvGrpSpPr>
        <p:cNvPr id="49" name="Shape 49"/>
        <p:cNvGrpSpPr/>
        <p:nvPr/>
      </p:nvGrpSpPr>
      <p:grpSpPr>
        <a:xfrm>
          <a:off x="0" y="0"/>
          <a:ext cx="0" cy="0"/>
          <a:chOff x="0" y="0"/>
          <a:chExt cx="0" cy="0"/>
        </a:xfrm>
      </p:grpSpPr>
      <p:sp>
        <p:nvSpPr>
          <p:cNvPr id="50" name="Google Shape;50;p4"/>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4"/>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4"/>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4" name="Google Shape;54;p4"/>
          <p:cNvSpPr txBox="1"/>
          <p:nvPr>
            <p:ph idx="1" type="body"/>
          </p:nvPr>
        </p:nvSpPr>
        <p:spPr>
          <a:xfrm>
            <a:off x="819150" y="1990725"/>
            <a:ext cx="7505700" cy="244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4"/>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dk2"/>
        </a:solidFill>
      </p:bgPr>
    </p:bg>
    <p:spTree>
      <p:nvGrpSpPr>
        <p:cNvPr id="56" name="Shape 56"/>
        <p:cNvGrpSpPr/>
        <p:nvPr/>
      </p:nvGrpSpPr>
      <p:grpSpPr>
        <a:xfrm>
          <a:off x="0" y="0"/>
          <a:ext cx="0" cy="0"/>
          <a:chOff x="0" y="0"/>
          <a:chExt cx="0" cy="0"/>
        </a:xfrm>
      </p:grpSpPr>
      <p:sp>
        <p:nvSpPr>
          <p:cNvPr id="57" name="Google Shape;57;p5"/>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5"/>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5"/>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61" name="Google Shape;61;p5"/>
          <p:cNvSpPr txBox="1"/>
          <p:nvPr>
            <p:ph idx="1" type="body"/>
          </p:nvPr>
        </p:nvSpPr>
        <p:spPr>
          <a:xfrm>
            <a:off x="819150" y="1990725"/>
            <a:ext cx="3686100" cy="244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2" name="Google Shape;62;p5"/>
          <p:cNvSpPr txBox="1"/>
          <p:nvPr>
            <p:ph idx="2" type="body"/>
          </p:nvPr>
        </p:nvSpPr>
        <p:spPr>
          <a:xfrm>
            <a:off x="4638675" y="1990725"/>
            <a:ext cx="3686100" cy="24480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3" name="Google Shape;63;p5"/>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2"/>
        </a:solidFill>
      </p:bgPr>
    </p:bg>
    <p:spTree>
      <p:nvGrpSpPr>
        <p:cNvPr id="64" name="Shape 64"/>
        <p:cNvGrpSpPr/>
        <p:nvPr/>
      </p:nvGrpSpPr>
      <p:grpSpPr>
        <a:xfrm>
          <a:off x="0" y="0"/>
          <a:ext cx="0" cy="0"/>
          <a:chOff x="0" y="0"/>
          <a:chExt cx="0" cy="0"/>
        </a:xfrm>
      </p:grpSpPr>
      <p:sp>
        <p:nvSpPr>
          <p:cNvPr id="65" name="Google Shape;65;p6"/>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6"/>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6"/>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6"/>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69" name="Google Shape;69;p6"/>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solidFill>
          <a:schemeClr val="accent3"/>
        </a:solidFill>
      </p:bgPr>
    </p:bg>
    <p:spTree>
      <p:nvGrpSpPr>
        <p:cNvPr id="70" name="Shape 70"/>
        <p:cNvGrpSpPr/>
        <p:nvPr/>
      </p:nvGrpSpPr>
      <p:grpSpPr>
        <a:xfrm>
          <a:off x="0" y="0"/>
          <a:ext cx="0" cy="0"/>
          <a:chOff x="0" y="0"/>
          <a:chExt cx="0" cy="0"/>
        </a:xfrm>
      </p:grpSpPr>
      <p:sp>
        <p:nvSpPr>
          <p:cNvPr id="71" name="Google Shape;71;p7"/>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7"/>
          <p:cNvSpPr/>
          <p:nvPr/>
        </p:nvSpPr>
        <p:spPr>
          <a:xfrm>
            <a:off x="31" y="2824500"/>
            <a:ext cx="7370400" cy="2319000"/>
          </a:xfrm>
          <a:prstGeom prst="rtTriangl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txBox="1"/>
          <p:nvPr>
            <p:ph type="title"/>
          </p:nvPr>
        </p:nvSpPr>
        <p:spPr>
          <a:xfrm>
            <a:off x="819150" y="845600"/>
            <a:ext cx="3709200" cy="13830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75" name="Google Shape;75;p7"/>
          <p:cNvSpPr txBox="1"/>
          <p:nvPr>
            <p:ph idx="1" type="body"/>
          </p:nvPr>
        </p:nvSpPr>
        <p:spPr>
          <a:xfrm>
            <a:off x="830700" y="2319050"/>
            <a:ext cx="3709200" cy="21198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76" name="Google Shape;76;p7"/>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1"/>
        </a:solidFill>
      </p:bgPr>
    </p:bg>
    <p:spTree>
      <p:nvGrpSpPr>
        <p:cNvPr id="77" name="Shape 77"/>
        <p:cNvGrpSpPr/>
        <p:nvPr/>
      </p:nvGrpSpPr>
      <p:grpSpPr>
        <a:xfrm>
          <a:off x="0" y="0"/>
          <a:ext cx="0" cy="0"/>
          <a:chOff x="0" y="0"/>
          <a:chExt cx="0" cy="0"/>
        </a:xfrm>
      </p:grpSpPr>
      <p:sp>
        <p:nvSpPr>
          <p:cNvPr id="78" name="Google Shape;78;p8"/>
          <p:cNvSpPr/>
          <p:nvPr/>
        </p:nvSpPr>
        <p:spPr>
          <a:xfrm>
            <a:off x="0" y="2823144"/>
            <a:ext cx="7369200" cy="23169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flipH="1">
            <a:off x="3583210" y="1554113"/>
            <a:ext cx="5560500" cy="35895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0" name="Google Shape;80;p8"/>
          <p:cNvGrpSpPr/>
          <p:nvPr/>
        </p:nvGrpSpPr>
        <p:grpSpPr>
          <a:xfrm>
            <a:off x="255991" y="-118"/>
            <a:ext cx="2251347" cy="1043408"/>
            <a:chOff x="3961956" y="4383950"/>
            <a:chExt cx="1160548" cy="548700"/>
          </a:xfrm>
        </p:grpSpPr>
        <p:sp>
          <p:nvSpPr>
            <p:cNvPr id="81" name="Google Shape;81;p8"/>
            <p:cNvSpPr/>
            <p:nvPr/>
          </p:nvSpPr>
          <p:spPr>
            <a:xfrm>
              <a:off x="4224904"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4093430"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a:off x="3961956" y="4383950"/>
              <a:ext cx="897600" cy="548700"/>
            </a:xfrm>
            <a:prstGeom prst="parallelogram">
              <a:avLst>
                <a:gd fmla="val 153193"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 name="Google Shape;84;p8"/>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 name="Google Shape;85;p8"/>
          <p:cNvGrpSpPr/>
          <p:nvPr/>
        </p:nvGrpSpPr>
        <p:grpSpPr>
          <a:xfrm>
            <a:off x="34934" y="4522125"/>
            <a:ext cx="1593306" cy="617072"/>
            <a:chOff x="6917201" y="0"/>
            <a:chExt cx="2227777" cy="863400"/>
          </a:xfrm>
        </p:grpSpPr>
        <p:sp>
          <p:nvSpPr>
            <p:cNvPr id="86" name="Google Shape;86;p8"/>
            <p:cNvSpPr/>
            <p:nvPr/>
          </p:nvSpPr>
          <p:spPr>
            <a:xfrm>
              <a:off x="7641677"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a:off x="7279439"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6917201" y="0"/>
              <a:ext cx="1503300" cy="863400"/>
            </a:xfrm>
            <a:prstGeom prst="parallelogram">
              <a:avLst>
                <a:gd fmla="val 158024" name="adj"/>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 name="Google Shape;89;p8"/>
          <p:cNvGrpSpPr/>
          <p:nvPr/>
        </p:nvGrpSpPr>
        <p:grpSpPr>
          <a:xfrm>
            <a:off x="5886353" y="1243"/>
            <a:ext cx="3257455" cy="1261514"/>
            <a:chOff x="6917201" y="0"/>
            <a:chExt cx="2227777" cy="863400"/>
          </a:xfrm>
        </p:grpSpPr>
        <p:sp>
          <p:nvSpPr>
            <p:cNvPr id="90" name="Google Shape;90;p8"/>
            <p:cNvSpPr/>
            <p:nvPr/>
          </p:nvSpPr>
          <p:spPr>
            <a:xfrm>
              <a:off x="7641677"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8"/>
            <p:cNvSpPr/>
            <p:nvPr/>
          </p:nvSpPr>
          <p:spPr>
            <a:xfrm>
              <a:off x="7279439"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8"/>
            <p:cNvSpPr/>
            <p:nvPr/>
          </p:nvSpPr>
          <p:spPr>
            <a:xfrm>
              <a:off x="6917201" y="0"/>
              <a:ext cx="1503300" cy="863400"/>
            </a:xfrm>
            <a:prstGeom prst="parallelogram">
              <a:avLst>
                <a:gd fmla="val 158024"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3" name="Google Shape;93;p8"/>
          <p:cNvSpPr txBox="1"/>
          <p:nvPr>
            <p:ph type="title"/>
          </p:nvPr>
        </p:nvSpPr>
        <p:spPr>
          <a:xfrm>
            <a:off x="1393929" y="1301146"/>
            <a:ext cx="6366900" cy="25392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200"/>
              <a:buNone/>
              <a:defRPr sz="3200"/>
            </a:lvl1pPr>
            <a:lvl2pPr lvl="1" algn="ctr">
              <a:spcBef>
                <a:spcPts val="0"/>
              </a:spcBef>
              <a:spcAft>
                <a:spcPts val="0"/>
              </a:spcAft>
              <a:buSzPts val="3200"/>
              <a:buNone/>
              <a:defRPr sz="3200"/>
            </a:lvl2pPr>
            <a:lvl3pPr lvl="2" algn="ctr">
              <a:spcBef>
                <a:spcPts val="0"/>
              </a:spcBef>
              <a:spcAft>
                <a:spcPts val="0"/>
              </a:spcAft>
              <a:buSzPts val="3200"/>
              <a:buNone/>
              <a:defRPr sz="3200"/>
            </a:lvl3pPr>
            <a:lvl4pPr lvl="3" algn="ctr">
              <a:spcBef>
                <a:spcPts val="0"/>
              </a:spcBef>
              <a:spcAft>
                <a:spcPts val="0"/>
              </a:spcAft>
              <a:buSzPts val="3200"/>
              <a:buNone/>
              <a:defRPr sz="3200"/>
            </a:lvl4pPr>
            <a:lvl5pPr lvl="4" algn="ctr">
              <a:spcBef>
                <a:spcPts val="0"/>
              </a:spcBef>
              <a:spcAft>
                <a:spcPts val="0"/>
              </a:spcAft>
              <a:buSzPts val="3200"/>
              <a:buNone/>
              <a:defRPr sz="3200"/>
            </a:lvl5pPr>
            <a:lvl6pPr lvl="5" algn="ctr">
              <a:spcBef>
                <a:spcPts val="0"/>
              </a:spcBef>
              <a:spcAft>
                <a:spcPts val="0"/>
              </a:spcAft>
              <a:buSzPts val="3200"/>
              <a:buNone/>
              <a:defRPr sz="3200"/>
            </a:lvl6pPr>
            <a:lvl7pPr lvl="6" algn="ctr">
              <a:spcBef>
                <a:spcPts val="0"/>
              </a:spcBef>
              <a:spcAft>
                <a:spcPts val="0"/>
              </a:spcAft>
              <a:buSzPts val="3200"/>
              <a:buNone/>
              <a:defRPr sz="3200"/>
            </a:lvl7pPr>
            <a:lvl8pPr lvl="7" algn="ctr">
              <a:spcBef>
                <a:spcPts val="0"/>
              </a:spcBef>
              <a:spcAft>
                <a:spcPts val="0"/>
              </a:spcAft>
              <a:buSzPts val="3200"/>
              <a:buNone/>
              <a:defRPr sz="3200"/>
            </a:lvl8pPr>
            <a:lvl9pPr lvl="8" algn="ctr">
              <a:spcBef>
                <a:spcPts val="0"/>
              </a:spcBef>
              <a:spcAft>
                <a:spcPts val="0"/>
              </a:spcAft>
              <a:buSzPts val="3200"/>
              <a:buNone/>
              <a:defRPr sz="3200"/>
            </a:lvl9pPr>
          </a:lstStyle>
          <a:p/>
        </p:txBody>
      </p:sp>
      <p:sp>
        <p:nvSpPr>
          <p:cNvPr id="94" name="Google Shape;94;p8"/>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solidFill>
          <a:schemeClr val="dk2"/>
        </a:solidFill>
      </p:bgPr>
    </p:bg>
    <p:spTree>
      <p:nvGrpSpPr>
        <p:cNvPr id="95" name="Shape 95"/>
        <p:cNvGrpSpPr/>
        <p:nvPr/>
      </p:nvGrpSpPr>
      <p:grpSpPr>
        <a:xfrm>
          <a:off x="0" y="0"/>
          <a:ext cx="0" cy="0"/>
          <a:chOff x="0" y="0"/>
          <a:chExt cx="0" cy="0"/>
        </a:xfrm>
      </p:grpSpPr>
      <p:sp>
        <p:nvSpPr>
          <p:cNvPr id="96" name="Google Shape;96;p9"/>
          <p:cNvSpPr/>
          <p:nvPr/>
        </p:nvSpPr>
        <p:spPr>
          <a:xfrm flipH="1">
            <a:off x="3582600" y="1550700"/>
            <a:ext cx="5561400" cy="35928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9"/>
          <p:cNvSpPr/>
          <p:nvPr/>
        </p:nvSpPr>
        <p:spPr>
          <a:xfrm>
            <a:off x="31" y="2824500"/>
            <a:ext cx="7370400" cy="2319000"/>
          </a:xfrm>
          <a:prstGeom prst="rtTriangle">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9"/>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9"/>
          <p:cNvSpPr txBox="1"/>
          <p:nvPr>
            <p:ph type="title"/>
          </p:nvPr>
        </p:nvSpPr>
        <p:spPr>
          <a:xfrm>
            <a:off x="819150" y="845600"/>
            <a:ext cx="6424200" cy="7050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00" name="Google Shape;100;p9"/>
          <p:cNvSpPr txBox="1"/>
          <p:nvPr>
            <p:ph idx="1" type="subTitle"/>
          </p:nvPr>
        </p:nvSpPr>
        <p:spPr>
          <a:xfrm>
            <a:off x="819150" y="1550700"/>
            <a:ext cx="5859900" cy="3936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p:txBody>
      </p:sp>
      <p:sp>
        <p:nvSpPr>
          <p:cNvPr id="101" name="Google Shape;101;p9"/>
          <p:cNvSpPr txBox="1"/>
          <p:nvPr>
            <p:ph idx="2" type="body"/>
          </p:nvPr>
        </p:nvSpPr>
        <p:spPr>
          <a:xfrm>
            <a:off x="819150" y="2467050"/>
            <a:ext cx="5859900" cy="209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02" name="Google Shape;102;p9"/>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accent1"/>
        </a:solidFill>
      </p:bgPr>
    </p:bg>
    <p:spTree>
      <p:nvGrpSpPr>
        <p:cNvPr id="103" name="Shape 103"/>
        <p:cNvGrpSpPr/>
        <p:nvPr/>
      </p:nvGrpSpPr>
      <p:grpSpPr>
        <a:xfrm>
          <a:off x="0" y="0"/>
          <a:ext cx="0" cy="0"/>
          <a:chOff x="0" y="0"/>
          <a:chExt cx="0" cy="0"/>
        </a:xfrm>
      </p:grpSpPr>
      <p:sp>
        <p:nvSpPr>
          <p:cNvPr id="104" name="Google Shape;104;p10"/>
          <p:cNvSpPr/>
          <p:nvPr/>
        </p:nvSpPr>
        <p:spPr>
          <a:xfrm>
            <a:off x="31" y="2824500"/>
            <a:ext cx="7370400" cy="2319000"/>
          </a:xfrm>
          <a:prstGeom prst="rtTriangl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10"/>
          <p:cNvSpPr/>
          <p:nvPr/>
        </p:nvSpPr>
        <p:spPr>
          <a:xfrm flipH="1">
            <a:off x="3582600" y="1550700"/>
            <a:ext cx="5561400" cy="3592800"/>
          </a:xfrm>
          <a:prstGeom prst="rtTriangl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0"/>
          <p:cNvSpPr/>
          <p:nvPr/>
        </p:nvSpPr>
        <p:spPr>
          <a:xfrm>
            <a:off x="203225" y="206250"/>
            <a:ext cx="8737500" cy="4731000"/>
          </a:xfrm>
          <a:prstGeom prst="rect">
            <a:avLst/>
          </a:prstGeom>
          <a:solidFill>
            <a:schemeClr val="dk1"/>
          </a:solidFill>
          <a:ln>
            <a:noFill/>
          </a:ln>
          <a:effectLst>
            <a:outerShdw blurRad="228600" sx="101000" rotWithShape="0" algn="ctr" sy="101000">
              <a:srgbClr val="000000">
                <a:alpha val="40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0"/>
          <p:cNvSpPr txBox="1"/>
          <p:nvPr>
            <p:ph idx="1" type="body"/>
          </p:nvPr>
        </p:nvSpPr>
        <p:spPr>
          <a:xfrm>
            <a:off x="328025" y="4163500"/>
            <a:ext cx="7415100" cy="605100"/>
          </a:xfrm>
          <a:prstGeom prst="rect">
            <a:avLst/>
          </a:prstGeom>
        </p:spPr>
        <p:txBody>
          <a:bodyPr anchorCtr="0" anchor="b"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8" name="Google Shape;108;p10"/>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3"/>
        </a:solidFill>
      </p:bgPr>
    </p:bg>
    <p:spTree>
      <p:nvGrpSpPr>
        <p:cNvPr id="109" name="Shape 109"/>
        <p:cNvGrpSpPr/>
        <p:nvPr/>
      </p:nvGrpSpPr>
      <p:grpSpPr>
        <a:xfrm>
          <a:off x="0" y="0"/>
          <a:ext cx="0" cy="0"/>
          <a:chOff x="0" y="0"/>
          <a:chExt cx="0" cy="0"/>
        </a:xfrm>
      </p:grpSpPr>
      <p:sp>
        <p:nvSpPr>
          <p:cNvPr id="110" name="Google Shape;110;p11"/>
          <p:cNvSpPr/>
          <p:nvPr/>
        </p:nvSpPr>
        <p:spPr>
          <a:xfrm flipH="1">
            <a:off x="5569200" y="2834075"/>
            <a:ext cx="3574800" cy="2309400"/>
          </a:xfrm>
          <a:prstGeom prst="rtTriangl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 name="Google Shape;111;p11"/>
          <p:cNvGrpSpPr/>
          <p:nvPr/>
        </p:nvGrpSpPr>
        <p:grpSpPr>
          <a:xfrm>
            <a:off x="5959222" y="4119576"/>
            <a:ext cx="2520952" cy="1024165"/>
            <a:chOff x="6917201" y="0"/>
            <a:chExt cx="2227777" cy="863400"/>
          </a:xfrm>
        </p:grpSpPr>
        <p:sp>
          <p:nvSpPr>
            <p:cNvPr id="112" name="Google Shape;112;p11"/>
            <p:cNvSpPr/>
            <p:nvPr/>
          </p:nvSpPr>
          <p:spPr>
            <a:xfrm>
              <a:off x="7641677"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a:off x="7279439"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a:off x="6917201" y="0"/>
              <a:ext cx="1503300" cy="863400"/>
            </a:xfrm>
            <a:prstGeom prst="parallelogram">
              <a:avLst>
                <a:gd fmla="val 158024"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 name="Google Shape;115;p11"/>
          <p:cNvGrpSpPr/>
          <p:nvPr/>
        </p:nvGrpSpPr>
        <p:grpSpPr>
          <a:xfrm>
            <a:off x="199149" y="2"/>
            <a:ext cx="2795414" cy="1083308"/>
            <a:chOff x="6917201" y="0"/>
            <a:chExt cx="2227777" cy="863400"/>
          </a:xfrm>
        </p:grpSpPr>
        <p:sp>
          <p:nvSpPr>
            <p:cNvPr id="116" name="Google Shape;116;p11"/>
            <p:cNvSpPr/>
            <p:nvPr/>
          </p:nvSpPr>
          <p:spPr>
            <a:xfrm>
              <a:off x="7641677"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a:off x="7279439"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a:off x="6917201" y="0"/>
              <a:ext cx="1503300" cy="863400"/>
            </a:xfrm>
            <a:prstGeom prst="parallelogram">
              <a:avLst>
                <a:gd fmla="val 158024"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9" name="Google Shape;119;p11"/>
          <p:cNvSpPr txBox="1"/>
          <p:nvPr>
            <p:ph hasCustomPrompt="1" type="title"/>
          </p:nvPr>
        </p:nvSpPr>
        <p:spPr>
          <a:xfrm>
            <a:off x="1385850" y="1383850"/>
            <a:ext cx="6372300" cy="13797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dk2"/>
              </a:buClr>
              <a:buSzPts val="8600"/>
              <a:buNone/>
              <a:defRPr sz="8600">
                <a:solidFill>
                  <a:schemeClr val="dk2"/>
                </a:solidFill>
              </a:defRPr>
            </a:lvl1pPr>
            <a:lvl2pPr lvl="1" algn="ctr">
              <a:spcBef>
                <a:spcPts val="0"/>
              </a:spcBef>
              <a:spcAft>
                <a:spcPts val="0"/>
              </a:spcAft>
              <a:buClr>
                <a:schemeClr val="dk2"/>
              </a:buClr>
              <a:buSzPts val="8600"/>
              <a:buNone/>
              <a:defRPr sz="8600">
                <a:solidFill>
                  <a:schemeClr val="dk2"/>
                </a:solidFill>
              </a:defRPr>
            </a:lvl2pPr>
            <a:lvl3pPr lvl="2" algn="ctr">
              <a:spcBef>
                <a:spcPts val="0"/>
              </a:spcBef>
              <a:spcAft>
                <a:spcPts val="0"/>
              </a:spcAft>
              <a:buClr>
                <a:schemeClr val="dk2"/>
              </a:buClr>
              <a:buSzPts val="8600"/>
              <a:buNone/>
              <a:defRPr sz="8600">
                <a:solidFill>
                  <a:schemeClr val="dk2"/>
                </a:solidFill>
              </a:defRPr>
            </a:lvl3pPr>
            <a:lvl4pPr lvl="3" algn="ctr">
              <a:spcBef>
                <a:spcPts val="0"/>
              </a:spcBef>
              <a:spcAft>
                <a:spcPts val="0"/>
              </a:spcAft>
              <a:buClr>
                <a:schemeClr val="dk2"/>
              </a:buClr>
              <a:buSzPts val="8600"/>
              <a:buNone/>
              <a:defRPr sz="8600">
                <a:solidFill>
                  <a:schemeClr val="dk2"/>
                </a:solidFill>
              </a:defRPr>
            </a:lvl4pPr>
            <a:lvl5pPr lvl="4" algn="ctr">
              <a:spcBef>
                <a:spcPts val="0"/>
              </a:spcBef>
              <a:spcAft>
                <a:spcPts val="0"/>
              </a:spcAft>
              <a:buClr>
                <a:schemeClr val="dk2"/>
              </a:buClr>
              <a:buSzPts val="8600"/>
              <a:buNone/>
              <a:defRPr sz="8600">
                <a:solidFill>
                  <a:schemeClr val="dk2"/>
                </a:solidFill>
              </a:defRPr>
            </a:lvl5pPr>
            <a:lvl6pPr lvl="5" algn="ctr">
              <a:spcBef>
                <a:spcPts val="0"/>
              </a:spcBef>
              <a:spcAft>
                <a:spcPts val="0"/>
              </a:spcAft>
              <a:buClr>
                <a:schemeClr val="dk2"/>
              </a:buClr>
              <a:buSzPts val="8600"/>
              <a:buNone/>
              <a:defRPr sz="8600">
                <a:solidFill>
                  <a:schemeClr val="dk2"/>
                </a:solidFill>
              </a:defRPr>
            </a:lvl6pPr>
            <a:lvl7pPr lvl="6" algn="ctr">
              <a:spcBef>
                <a:spcPts val="0"/>
              </a:spcBef>
              <a:spcAft>
                <a:spcPts val="0"/>
              </a:spcAft>
              <a:buClr>
                <a:schemeClr val="dk2"/>
              </a:buClr>
              <a:buSzPts val="8600"/>
              <a:buNone/>
              <a:defRPr sz="8600">
                <a:solidFill>
                  <a:schemeClr val="dk2"/>
                </a:solidFill>
              </a:defRPr>
            </a:lvl7pPr>
            <a:lvl8pPr lvl="7" algn="ctr">
              <a:spcBef>
                <a:spcPts val="0"/>
              </a:spcBef>
              <a:spcAft>
                <a:spcPts val="0"/>
              </a:spcAft>
              <a:buClr>
                <a:schemeClr val="dk2"/>
              </a:buClr>
              <a:buSzPts val="8600"/>
              <a:buNone/>
              <a:defRPr sz="8600">
                <a:solidFill>
                  <a:schemeClr val="dk2"/>
                </a:solidFill>
              </a:defRPr>
            </a:lvl8pPr>
            <a:lvl9pPr lvl="8" algn="ctr">
              <a:spcBef>
                <a:spcPts val="0"/>
              </a:spcBef>
              <a:spcAft>
                <a:spcPts val="0"/>
              </a:spcAft>
              <a:buClr>
                <a:schemeClr val="dk2"/>
              </a:buClr>
              <a:buSzPts val="8600"/>
              <a:buNone/>
              <a:defRPr sz="8600">
                <a:solidFill>
                  <a:schemeClr val="dk2"/>
                </a:solidFill>
              </a:defRPr>
            </a:lvl9pPr>
          </a:lstStyle>
          <a:p>
            <a:r>
              <a:t>xx%</a:t>
            </a:r>
          </a:p>
        </p:txBody>
      </p:sp>
      <p:sp>
        <p:nvSpPr>
          <p:cNvPr id="120" name="Google Shape;120;p11"/>
          <p:cNvSpPr txBox="1"/>
          <p:nvPr>
            <p:ph idx="1" type="body"/>
          </p:nvPr>
        </p:nvSpPr>
        <p:spPr>
          <a:xfrm>
            <a:off x="1385850" y="2863850"/>
            <a:ext cx="6372300" cy="641100"/>
          </a:xfrm>
          <a:prstGeom prst="rect">
            <a:avLst/>
          </a:prstGeom>
        </p:spPr>
        <p:txBody>
          <a:bodyPr anchorCtr="0" anchor="t" bIns="91425" lIns="91425" spcFirstLastPara="1" rIns="91425" wrap="square" tIns="91425">
            <a:normAutofit/>
          </a:bodyPr>
          <a:lstStyle>
            <a:lvl1pPr indent="-311150" lvl="0" marL="457200" algn="ctr">
              <a:spcBef>
                <a:spcPts val="0"/>
              </a:spcBef>
              <a:spcAft>
                <a:spcPts val="0"/>
              </a:spcAft>
              <a:buSzPts val="1300"/>
              <a:buChar char="●"/>
              <a:defRPr/>
            </a:lvl1pPr>
            <a:lvl2pPr indent="-298450" lvl="1" marL="914400" algn="ctr">
              <a:spcBef>
                <a:spcPts val="0"/>
              </a:spcBef>
              <a:spcAft>
                <a:spcPts val="0"/>
              </a:spcAft>
              <a:buSzPts val="1100"/>
              <a:buChar char="○"/>
              <a:defRPr/>
            </a:lvl2pPr>
            <a:lvl3pPr indent="-298450" lvl="2" marL="1371600" algn="ctr">
              <a:spcBef>
                <a:spcPts val="0"/>
              </a:spcBef>
              <a:spcAft>
                <a:spcPts val="0"/>
              </a:spcAft>
              <a:buSzPts val="1100"/>
              <a:buChar char="■"/>
              <a:defRPr/>
            </a:lvl3pPr>
            <a:lvl4pPr indent="-298450" lvl="3" marL="1828800" algn="ctr">
              <a:spcBef>
                <a:spcPts val="0"/>
              </a:spcBef>
              <a:spcAft>
                <a:spcPts val="0"/>
              </a:spcAft>
              <a:buSzPts val="1100"/>
              <a:buChar char="●"/>
              <a:defRPr/>
            </a:lvl4pPr>
            <a:lvl5pPr indent="-298450" lvl="4" marL="2286000" algn="ctr">
              <a:spcBef>
                <a:spcPts val="0"/>
              </a:spcBef>
              <a:spcAft>
                <a:spcPts val="0"/>
              </a:spcAft>
              <a:buSzPts val="1100"/>
              <a:buChar char="○"/>
              <a:defRPr/>
            </a:lvl5pPr>
            <a:lvl6pPr indent="-298450" lvl="5" marL="2743200" algn="ctr">
              <a:spcBef>
                <a:spcPts val="0"/>
              </a:spcBef>
              <a:spcAft>
                <a:spcPts val="0"/>
              </a:spcAft>
              <a:buSzPts val="1100"/>
              <a:buChar char="■"/>
              <a:defRPr/>
            </a:lvl6pPr>
            <a:lvl7pPr indent="-298450" lvl="6" marL="3200400" algn="ctr">
              <a:spcBef>
                <a:spcPts val="0"/>
              </a:spcBef>
              <a:spcAft>
                <a:spcPts val="0"/>
              </a:spcAft>
              <a:buSzPts val="1100"/>
              <a:buChar char="●"/>
              <a:defRPr/>
            </a:lvl7pPr>
            <a:lvl8pPr indent="-298450" lvl="7" marL="3657600" algn="ctr">
              <a:spcBef>
                <a:spcPts val="0"/>
              </a:spcBef>
              <a:spcAft>
                <a:spcPts val="0"/>
              </a:spcAft>
              <a:buSzPts val="1100"/>
              <a:buChar char="○"/>
              <a:defRPr/>
            </a:lvl8pPr>
            <a:lvl9pPr indent="-298450" lvl="8" marL="4114800" algn="ctr">
              <a:spcBef>
                <a:spcPts val="0"/>
              </a:spcBef>
              <a:spcAft>
                <a:spcPts val="0"/>
              </a:spcAft>
              <a:buSzPts val="1100"/>
              <a:buChar char="■"/>
              <a:defRPr/>
            </a:lvl9pPr>
          </a:lstStyle>
          <a:p/>
        </p:txBody>
      </p:sp>
      <p:sp>
        <p:nvSpPr>
          <p:cNvPr id="121" name="Google Shape;121;p11"/>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2" name="Shape 122"/>
        <p:cNvGrpSpPr/>
        <p:nvPr/>
      </p:nvGrpSpPr>
      <p:grpSpPr>
        <a:xfrm>
          <a:off x="0" y="0"/>
          <a:ext cx="0" cy="0"/>
          <a:chOff x="0" y="0"/>
          <a:chExt cx="0" cy="0"/>
        </a:xfrm>
      </p:grpSpPr>
      <p:sp>
        <p:nvSpPr>
          <p:cNvPr id="123" name="Google Shape;123;p12"/>
          <p:cNvSpPr txBox="1"/>
          <p:nvPr>
            <p:ph idx="12" type="sldNum"/>
          </p:nvPr>
        </p:nvSpPr>
        <p:spPr>
          <a:xfrm>
            <a:off x="8390734" y="4543668"/>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hift">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1pPr>
            <a:lvl2pPr lvl="1">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2pPr>
            <a:lvl3pPr lvl="2">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3pPr>
            <a:lvl4pPr lvl="3">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4pPr>
            <a:lvl5pPr lvl="4">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5pPr>
            <a:lvl6pPr lvl="5">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6pPr>
            <a:lvl7pPr lvl="6">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7pPr>
            <a:lvl8pPr lvl="7">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8pPr>
            <a:lvl9pPr lvl="8">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9pPr>
          </a:lstStyle>
          <a:p/>
        </p:txBody>
      </p:sp>
      <p:sp>
        <p:nvSpPr>
          <p:cNvPr id="7" name="Google Shape;7;p1"/>
          <p:cNvSpPr txBox="1"/>
          <p:nvPr>
            <p:ph idx="1" type="body"/>
          </p:nvPr>
        </p:nvSpPr>
        <p:spPr>
          <a:xfrm>
            <a:off x="311700" y="1152475"/>
            <a:ext cx="8520600" cy="33912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dk2"/>
              </a:buClr>
              <a:buSzPts val="1300"/>
              <a:buFont typeface="Calibri"/>
              <a:buChar char="●"/>
              <a:defRPr sz="1300">
                <a:solidFill>
                  <a:schemeClr val="dk2"/>
                </a:solidFill>
                <a:latin typeface="Calibri"/>
                <a:ea typeface="Calibri"/>
                <a:cs typeface="Calibri"/>
                <a:sym typeface="Calibri"/>
              </a:defRPr>
            </a:lvl1pPr>
            <a:lvl2pPr indent="-298450" lvl="1" marL="9144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2pPr>
            <a:lvl3pPr indent="-298450" lvl="2" marL="13716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3pPr>
            <a:lvl4pPr indent="-298450" lvl="3" marL="18288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4pPr>
            <a:lvl5pPr indent="-298450" lvl="4" marL="22860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5pPr>
            <a:lvl6pPr indent="-298450" lvl="5" marL="27432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6pPr>
            <a:lvl7pPr indent="-298450" lvl="6" marL="32004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7pPr>
            <a:lvl8pPr indent="-298450" lvl="7" marL="36576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8pPr>
            <a:lvl9pPr indent="-298450" lvl="8" marL="411480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9pPr>
          </a:lstStyle>
          <a:p/>
        </p:txBody>
      </p:sp>
      <p:sp>
        <p:nvSpPr>
          <p:cNvPr id="8" name="Google Shape;8;p1"/>
          <p:cNvSpPr txBox="1"/>
          <p:nvPr>
            <p:ph idx="12" type="sldNum"/>
          </p:nvPr>
        </p:nvSpPr>
        <p:spPr>
          <a:xfrm>
            <a:off x="8390734" y="4543668"/>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Nunito"/>
                <a:ea typeface="Nunito"/>
                <a:cs typeface="Nunito"/>
                <a:sym typeface="Nunito"/>
              </a:defRPr>
            </a:lvl1pPr>
            <a:lvl2pPr lvl="1" algn="r">
              <a:buNone/>
              <a:defRPr sz="1000">
                <a:solidFill>
                  <a:schemeClr val="dk2"/>
                </a:solidFill>
                <a:latin typeface="Nunito"/>
                <a:ea typeface="Nunito"/>
                <a:cs typeface="Nunito"/>
                <a:sym typeface="Nunito"/>
              </a:defRPr>
            </a:lvl2pPr>
            <a:lvl3pPr lvl="2" algn="r">
              <a:buNone/>
              <a:defRPr sz="1000">
                <a:solidFill>
                  <a:schemeClr val="dk2"/>
                </a:solidFill>
                <a:latin typeface="Nunito"/>
                <a:ea typeface="Nunito"/>
                <a:cs typeface="Nunito"/>
                <a:sym typeface="Nunito"/>
              </a:defRPr>
            </a:lvl3pPr>
            <a:lvl4pPr lvl="3" algn="r">
              <a:buNone/>
              <a:defRPr sz="1000">
                <a:solidFill>
                  <a:schemeClr val="dk2"/>
                </a:solidFill>
                <a:latin typeface="Nunito"/>
                <a:ea typeface="Nunito"/>
                <a:cs typeface="Nunito"/>
                <a:sym typeface="Nunito"/>
              </a:defRPr>
            </a:lvl4pPr>
            <a:lvl5pPr lvl="4" algn="r">
              <a:buNone/>
              <a:defRPr sz="1000">
                <a:solidFill>
                  <a:schemeClr val="dk2"/>
                </a:solidFill>
                <a:latin typeface="Nunito"/>
                <a:ea typeface="Nunito"/>
                <a:cs typeface="Nunito"/>
                <a:sym typeface="Nunito"/>
              </a:defRPr>
            </a:lvl5pPr>
            <a:lvl6pPr lvl="5" algn="r">
              <a:buNone/>
              <a:defRPr sz="1000">
                <a:solidFill>
                  <a:schemeClr val="dk2"/>
                </a:solidFill>
                <a:latin typeface="Nunito"/>
                <a:ea typeface="Nunito"/>
                <a:cs typeface="Nunito"/>
                <a:sym typeface="Nunito"/>
              </a:defRPr>
            </a:lvl6pPr>
            <a:lvl7pPr lvl="6" algn="r">
              <a:buNone/>
              <a:defRPr sz="1000">
                <a:solidFill>
                  <a:schemeClr val="dk2"/>
                </a:solidFill>
                <a:latin typeface="Nunito"/>
                <a:ea typeface="Nunito"/>
                <a:cs typeface="Nunito"/>
                <a:sym typeface="Nunito"/>
              </a:defRPr>
            </a:lvl7pPr>
            <a:lvl8pPr lvl="7" algn="r">
              <a:buNone/>
              <a:defRPr sz="1000">
                <a:solidFill>
                  <a:schemeClr val="dk2"/>
                </a:solidFill>
                <a:latin typeface="Nunito"/>
                <a:ea typeface="Nunito"/>
                <a:cs typeface="Nunito"/>
                <a:sym typeface="Nunito"/>
              </a:defRPr>
            </a:lvl8pPr>
            <a:lvl9pPr lvl="8" algn="r">
              <a:buNone/>
              <a:defRPr sz="1000">
                <a:solidFill>
                  <a:schemeClr val="dk2"/>
                </a:solidFill>
                <a:latin typeface="Nunito"/>
                <a:ea typeface="Nunito"/>
                <a:cs typeface="Nunito"/>
                <a:sym typeface="Nuni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s://nilsonreport.com/upload/content_promo/The_Nilson_Report_Issue_1164.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3.png"/><Relationship Id="rId4" Type="http://schemas.openxmlformats.org/officeDocument/2006/relationships/image" Target="../media/image5.png"/><Relationship Id="rId5"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5.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3"/>
          <p:cNvSpPr txBox="1"/>
          <p:nvPr>
            <p:ph type="ctrTitle"/>
          </p:nvPr>
        </p:nvSpPr>
        <p:spPr>
          <a:xfrm>
            <a:off x="1858703" y="1822833"/>
            <a:ext cx="5361300" cy="14481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
              <a:t>Predicting</a:t>
            </a:r>
            <a:r>
              <a:rPr lang="en"/>
              <a:t> Credit Defaults Using Imbalanced Data Techniques</a:t>
            </a:r>
            <a:endParaRPr/>
          </a:p>
        </p:txBody>
      </p:sp>
      <p:sp>
        <p:nvSpPr>
          <p:cNvPr id="129" name="Google Shape;129;p13"/>
          <p:cNvSpPr txBox="1"/>
          <p:nvPr>
            <p:ph idx="1" type="subTitle"/>
          </p:nvPr>
        </p:nvSpPr>
        <p:spPr>
          <a:xfrm>
            <a:off x="1858700" y="3413158"/>
            <a:ext cx="5361300" cy="52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Alex Ojemann and Dehkontee Chea Cuppah</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4"/>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Introduction</a:t>
            </a:r>
            <a:endParaRPr/>
          </a:p>
        </p:txBody>
      </p:sp>
      <p:sp>
        <p:nvSpPr>
          <p:cNvPr id="135" name="Google Shape;135;p14"/>
          <p:cNvSpPr txBox="1"/>
          <p:nvPr>
            <p:ph idx="1" type="body"/>
          </p:nvPr>
        </p:nvSpPr>
        <p:spPr>
          <a:xfrm>
            <a:off x="819150" y="1544175"/>
            <a:ext cx="7505700" cy="2894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100">
                <a:solidFill>
                  <a:srgbClr val="000000"/>
                </a:solidFill>
                <a:latin typeface="Arial"/>
                <a:ea typeface="Arial"/>
                <a:cs typeface="Arial"/>
                <a:sym typeface="Arial"/>
              </a:rPr>
              <a:t>For many banks, retaining high profitable customers is the number one business goal. Banking fraud, however, poses a significant threat to this goal for different banks. In terms of substantial financial losses, trust and credibility, this is a concerning issue to both banks and customers alike.</a:t>
            </a:r>
            <a:endParaRPr sz="1100">
              <a:solidFill>
                <a:srgbClr val="000000"/>
              </a:solidFill>
              <a:latin typeface="Arial"/>
              <a:ea typeface="Arial"/>
              <a:cs typeface="Arial"/>
              <a:sym typeface="Arial"/>
            </a:endParaRPr>
          </a:p>
          <a:p>
            <a:pPr indent="0" lvl="0" marL="0" rtl="0" algn="l">
              <a:spcBef>
                <a:spcPts val="0"/>
              </a:spcBef>
              <a:spcAft>
                <a:spcPts val="0"/>
              </a:spcAft>
              <a:buNone/>
            </a:pPr>
            <a:r>
              <a:t/>
            </a:r>
            <a:endParaRPr sz="1100">
              <a:solidFill>
                <a:srgbClr val="000000"/>
              </a:solidFill>
              <a:latin typeface="Arial"/>
              <a:ea typeface="Arial"/>
              <a:cs typeface="Arial"/>
              <a:sym typeface="Arial"/>
            </a:endParaRPr>
          </a:p>
          <a:p>
            <a:pPr indent="0" lvl="0" marL="0" rtl="0" algn="l">
              <a:spcBef>
                <a:spcPts val="0"/>
              </a:spcBef>
              <a:spcAft>
                <a:spcPts val="0"/>
              </a:spcAft>
              <a:buNone/>
            </a:pPr>
            <a:r>
              <a:rPr lang="en" sz="1100">
                <a:solidFill>
                  <a:srgbClr val="000000"/>
                </a:solidFill>
                <a:latin typeface="Arial"/>
                <a:ea typeface="Arial"/>
                <a:cs typeface="Arial"/>
                <a:sym typeface="Arial"/>
              </a:rPr>
              <a:t>It has been estimated by a </a:t>
            </a:r>
            <a:r>
              <a:rPr lang="en" sz="1100">
                <a:solidFill>
                  <a:srgbClr val="000000"/>
                </a:solidFill>
                <a:uFill>
                  <a:noFill/>
                </a:uFill>
                <a:latin typeface="Arial"/>
                <a:ea typeface="Arial"/>
                <a:cs typeface="Arial"/>
                <a:sym typeface="Arial"/>
                <a:hlinkClick r:id="rId3">
                  <a:extLst>
                    <a:ext uri="{A12FA001-AC4F-418D-AE19-62706E023703}">
                      <ahyp:hlinkClr val="tx"/>
                    </a:ext>
                  </a:extLst>
                </a:hlinkClick>
              </a:rPr>
              <a:t>Nilson</a:t>
            </a:r>
            <a:r>
              <a:rPr lang="en" sz="1100">
                <a:solidFill>
                  <a:srgbClr val="000000"/>
                </a:solidFill>
                <a:latin typeface="Arial"/>
                <a:ea typeface="Arial"/>
                <a:cs typeface="Arial"/>
                <a:sym typeface="Arial"/>
              </a:rPr>
              <a:t> report that by 2025 the banking frauds would account to approximately $50 billion worldwide. With the rise in digital payment channels, the number of fraudulent transactions is also increasing with new and different ways.</a:t>
            </a:r>
            <a:endParaRPr sz="1100">
              <a:solidFill>
                <a:srgbClr val="000000"/>
              </a:solidFill>
              <a:latin typeface="Arial"/>
              <a:ea typeface="Arial"/>
              <a:cs typeface="Arial"/>
              <a:sym typeface="Arial"/>
            </a:endParaRPr>
          </a:p>
          <a:p>
            <a:pPr indent="0" lvl="0" marL="0" rtl="0" algn="l">
              <a:spcBef>
                <a:spcPts val="0"/>
              </a:spcBef>
              <a:spcAft>
                <a:spcPts val="0"/>
              </a:spcAft>
              <a:buNone/>
            </a:pPr>
            <a:r>
              <a:t/>
            </a:r>
            <a:endParaRPr sz="1100">
              <a:solidFill>
                <a:srgbClr val="000000"/>
              </a:solidFill>
              <a:latin typeface="Arial"/>
              <a:ea typeface="Arial"/>
              <a:cs typeface="Arial"/>
              <a:sym typeface="Arial"/>
            </a:endParaRPr>
          </a:p>
          <a:p>
            <a:pPr indent="0" lvl="0" marL="0" rtl="0" algn="l">
              <a:spcBef>
                <a:spcPts val="0"/>
              </a:spcBef>
              <a:spcAft>
                <a:spcPts val="0"/>
              </a:spcAft>
              <a:buNone/>
            </a:pPr>
            <a:r>
              <a:rPr lang="en" sz="1100">
                <a:solidFill>
                  <a:srgbClr val="000000"/>
                </a:solidFill>
                <a:latin typeface="Arial"/>
                <a:ea typeface="Arial"/>
                <a:cs typeface="Arial"/>
                <a:sym typeface="Arial"/>
              </a:rPr>
              <a:t>In the banking industry, credit card fraud detection using machine learning is not just a trend but a necessity for them to put proactive monitoring and fraud prevention mechanisms in place. Machine learning is helping these institutions to reduce time-consuming manual reviews, costly chargebacks and fees, and denials of legitimate transactions.</a:t>
            </a:r>
            <a:endParaRPr sz="1100">
              <a:solidFill>
                <a:srgbClr val="000000"/>
              </a:solidFill>
              <a:latin typeface="Arial"/>
              <a:ea typeface="Arial"/>
              <a:cs typeface="Arial"/>
              <a:sym typeface="Arial"/>
            </a:endParaRPr>
          </a:p>
          <a:p>
            <a:pPr indent="0" lvl="0" marL="0" rtl="0" algn="l">
              <a:spcBef>
                <a:spcPts val="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5"/>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Understanding</a:t>
            </a:r>
            <a:r>
              <a:rPr lang="en"/>
              <a:t> Credit Card Fraud</a:t>
            </a:r>
            <a:endParaRPr/>
          </a:p>
        </p:txBody>
      </p:sp>
      <p:sp>
        <p:nvSpPr>
          <p:cNvPr id="141" name="Google Shape;141;p15"/>
          <p:cNvSpPr txBox="1"/>
          <p:nvPr>
            <p:ph idx="1" type="body"/>
          </p:nvPr>
        </p:nvSpPr>
        <p:spPr>
          <a:xfrm>
            <a:off x="819150" y="1990725"/>
            <a:ext cx="7505700" cy="2448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200">
                <a:solidFill>
                  <a:srgbClr val="000000"/>
                </a:solidFill>
                <a:latin typeface="Arial"/>
                <a:ea typeface="Arial"/>
                <a:cs typeface="Arial"/>
                <a:sym typeface="Arial"/>
              </a:rPr>
              <a:t>Credit card fraud is any dishonest act and behaviour to obtain information without the proper authorization from the account holder for financial gain. Among different ways of frauds, Skimming is the most common one, which is the way of duplicating of information located on the magnetic strip of the card. Apart from this, the other ways are:</a:t>
            </a:r>
            <a:endParaRPr sz="12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Font typeface="Arial"/>
              <a:buChar char="●"/>
            </a:pPr>
            <a:r>
              <a:rPr lang="en" sz="1100">
                <a:solidFill>
                  <a:srgbClr val="000000"/>
                </a:solidFill>
                <a:latin typeface="Arial"/>
                <a:ea typeface="Arial"/>
                <a:cs typeface="Arial"/>
                <a:sym typeface="Arial"/>
              </a:rPr>
              <a:t>Manipulation/alteration of genuine cards</a:t>
            </a: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Font typeface="Arial"/>
              <a:buChar char="●"/>
            </a:pPr>
            <a:r>
              <a:rPr lang="en" sz="1100">
                <a:solidFill>
                  <a:srgbClr val="000000"/>
                </a:solidFill>
                <a:latin typeface="Arial"/>
                <a:ea typeface="Arial"/>
                <a:cs typeface="Arial"/>
                <a:sym typeface="Arial"/>
              </a:rPr>
              <a:t>Creation of counterfeit cards</a:t>
            </a: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Font typeface="Arial"/>
              <a:buChar char="●"/>
            </a:pPr>
            <a:r>
              <a:rPr lang="en" sz="1100">
                <a:solidFill>
                  <a:srgbClr val="000000"/>
                </a:solidFill>
                <a:latin typeface="Arial"/>
                <a:ea typeface="Arial"/>
                <a:cs typeface="Arial"/>
                <a:sym typeface="Arial"/>
              </a:rPr>
              <a:t>Stolen/lost credit cards</a:t>
            </a:r>
            <a:endParaRPr sz="1100">
              <a:solidFill>
                <a:srgbClr val="000000"/>
              </a:solidFill>
              <a:latin typeface="Arial"/>
              <a:ea typeface="Arial"/>
              <a:cs typeface="Arial"/>
              <a:sym typeface="Arial"/>
            </a:endParaRPr>
          </a:p>
          <a:p>
            <a:pPr indent="-298450" lvl="0" marL="457200" rtl="0" algn="l">
              <a:spcBef>
                <a:spcPts val="0"/>
              </a:spcBef>
              <a:spcAft>
                <a:spcPts val="0"/>
              </a:spcAft>
              <a:buClr>
                <a:srgbClr val="000000"/>
              </a:buClr>
              <a:buSzPts val="1100"/>
              <a:buFont typeface="Arial"/>
              <a:buChar char="●"/>
            </a:pPr>
            <a:r>
              <a:rPr lang="en" sz="1100">
                <a:solidFill>
                  <a:srgbClr val="000000"/>
                </a:solidFill>
                <a:latin typeface="Arial"/>
                <a:ea typeface="Arial"/>
                <a:cs typeface="Arial"/>
                <a:sym typeface="Arial"/>
              </a:rPr>
              <a:t>Fraudulent telemarketing</a:t>
            </a:r>
            <a:endParaRPr sz="1100">
              <a:solidFill>
                <a:srgbClr val="000000"/>
              </a:solidFill>
              <a:latin typeface="Arial"/>
              <a:ea typeface="Arial"/>
              <a:cs typeface="Arial"/>
              <a:sym typeface="Arial"/>
            </a:endParaRPr>
          </a:p>
          <a:p>
            <a:pPr indent="0" lvl="0" marL="0" rtl="0" algn="l">
              <a:spcBef>
                <a:spcPts val="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6"/>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Dataset Structure</a:t>
            </a:r>
            <a:endParaRPr/>
          </a:p>
        </p:txBody>
      </p:sp>
      <p:sp>
        <p:nvSpPr>
          <p:cNvPr id="147" name="Google Shape;147;p16"/>
          <p:cNvSpPr txBox="1"/>
          <p:nvPr/>
        </p:nvSpPr>
        <p:spPr>
          <a:xfrm>
            <a:off x="658550" y="1430650"/>
            <a:ext cx="7857300" cy="3383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 sz="1200"/>
              <a:t>The dataset was retrieved from an open-source website, Kaggle.com. it contains data of transactions that were made in 2013 by credit card users in Europe.</a:t>
            </a:r>
            <a:endParaRPr sz="1200"/>
          </a:p>
          <a:p>
            <a:pPr indent="0" lvl="0" marL="0" rtl="0" algn="l">
              <a:lnSpc>
                <a:spcPct val="115000"/>
              </a:lnSpc>
              <a:spcBef>
                <a:spcPts val="1200"/>
              </a:spcBef>
              <a:spcAft>
                <a:spcPts val="0"/>
              </a:spcAft>
              <a:buNone/>
            </a:pPr>
            <a:r>
              <a:rPr lang="en" sz="1200"/>
              <a:t>The dataset contains:</a:t>
            </a:r>
            <a:endParaRPr sz="1200"/>
          </a:p>
          <a:p>
            <a:pPr indent="0" lvl="0" marL="0" rtl="0" algn="l">
              <a:lnSpc>
                <a:spcPct val="115000"/>
              </a:lnSpc>
              <a:spcBef>
                <a:spcPts val="1200"/>
              </a:spcBef>
              <a:spcAft>
                <a:spcPts val="0"/>
              </a:spcAft>
              <a:buNone/>
            </a:pPr>
            <a:r>
              <a:rPr b="1" lang="en" sz="1100"/>
              <a:t>Rows</a:t>
            </a:r>
            <a:r>
              <a:rPr lang="en" sz="1100"/>
              <a:t>: The dataset contains </a:t>
            </a:r>
            <a:r>
              <a:rPr b="1" lang="en" sz="1100"/>
              <a:t>65,535 entries</a:t>
            </a:r>
            <a:r>
              <a:rPr lang="en" sz="1100"/>
              <a:t>.</a:t>
            </a:r>
            <a:endParaRPr sz="1100"/>
          </a:p>
          <a:p>
            <a:pPr indent="0" lvl="0" marL="0" rtl="0" algn="l">
              <a:lnSpc>
                <a:spcPct val="115000"/>
              </a:lnSpc>
              <a:spcBef>
                <a:spcPts val="1200"/>
              </a:spcBef>
              <a:spcAft>
                <a:spcPts val="0"/>
              </a:spcAft>
              <a:buNone/>
            </a:pPr>
            <a:r>
              <a:rPr b="1" lang="en" sz="1100"/>
              <a:t>Columns</a:t>
            </a:r>
            <a:r>
              <a:rPr lang="en" sz="1100"/>
              <a:t>: There are </a:t>
            </a:r>
            <a:r>
              <a:rPr b="1" lang="en" sz="1100"/>
              <a:t>122 columns</a:t>
            </a:r>
            <a:r>
              <a:rPr lang="en" sz="1100"/>
              <a:t>, featuring a mix of numeric and categorical data. Some key columns are:</a:t>
            </a:r>
            <a:endParaRPr sz="1100"/>
          </a:p>
          <a:p>
            <a:pPr indent="-298450" lvl="0" marL="457200" rtl="0" algn="l">
              <a:lnSpc>
                <a:spcPct val="115000"/>
              </a:lnSpc>
              <a:spcBef>
                <a:spcPts val="1200"/>
              </a:spcBef>
              <a:spcAft>
                <a:spcPts val="0"/>
              </a:spcAft>
              <a:buSzPts val="1100"/>
              <a:buChar char="●"/>
            </a:pPr>
            <a:r>
              <a:rPr b="1" lang="en" sz="1100"/>
              <a:t>SK_ID_CURR</a:t>
            </a:r>
            <a:r>
              <a:rPr lang="en" sz="1100"/>
              <a:t>: Unique identifier for each application or customer.</a:t>
            </a:r>
            <a:endParaRPr sz="1100"/>
          </a:p>
          <a:p>
            <a:pPr indent="-298450" lvl="0" marL="457200" rtl="0" algn="l">
              <a:lnSpc>
                <a:spcPct val="115000"/>
              </a:lnSpc>
              <a:spcBef>
                <a:spcPts val="0"/>
              </a:spcBef>
              <a:spcAft>
                <a:spcPts val="0"/>
              </a:spcAft>
              <a:buSzPts val="1100"/>
              <a:buChar char="●"/>
            </a:pPr>
            <a:r>
              <a:rPr b="1" lang="en" sz="1100"/>
              <a:t>TARGET</a:t>
            </a:r>
            <a:r>
              <a:rPr lang="en" sz="1100"/>
              <a:t>: Whether the customer defaulted (1 = defaulted, 0 = not defaulted).</a:t>
            </a:r>
            <a:endParaRPr sz="1100"/>
          </a:p>
          <a:p>
            <a:pPr indent="-298450" lvl="0" marL="457200" rtl="0" algn="l">
              <a:lnSpc>
                <a:spcPct val="115000"/>
              </a:lnSpc>
              <a:spcBef>
                <a:spcPts val="0"/>
              </a:spcBef>
              <a:spcAft>
                <a:spcPts val="0"/>
              </a:spcAft>
              <a:buSzPts val="1100"/>
              <a:buChar char="●"/>
            </a:pPr>
            <a:r>
              <a:rPr b="1" lang="en" sz="1100"/>
              <a:t>AMT_INCOME_TOTAL</a:t>
            </a:r>
            <a:r>
              <a:rPr lang="en" sz="1100"/>
              <a:t>: Total income of the applicant.</a:t>
            </a:r>
            <a:endParaRPr sz="1100"/>
          </a:p>
          <a:p>
            <a:pPr indent="-298450" lvl="0" marL="457200" rtl="0" algn="l">
              <a:lnSpc>
                <a:spcPct val="115000"/>
              </a:lnSpc>
              <a:spcBef>
                <a:spcPts val="0"/>
              </a:spcBef>
              <a:spcAft>
                <a:spcPts val="0"/>
              </a:spcAft>
              <a:buSzPts val="1100"/>
              <a:buChar char="●"/>
            </a:pPr>
            <a:r>
              <a:rPr b="1" lang="en" sz="1100"/>
              <a:t>AMT_CREDIT</a:t>
            </a:r>
            <a:r>
              <a:rPr lang="en" sz="1100"/>
              <a:t>: Total credit amount used by the customer.</a:t>
            </a:r>
            <a:endParaRPr sz="1100"/>
          </a:p>
          <a:p>
            <a:pPr indent="-298450" lvl="0" marL="457200" rtl="0" algn="l">
              <a:lnSpc>
                <a:spcPct val="115000"/>
              </a:lnSpc>
              <a:spcBef>
                <a:spcPts val="0"/>
              </a:spcBef>
              <a:spcAft>
                <a:spcPts val="0"/>
              </a:spcAft>
              <a:buSzPts val="1100"/>
              <a:buChar char="●"/>
            </a:pPr>
            <a:r>
              <a:rPr b="1" lang="en" sz="1100"/>
              <a:t>EXTERNAL SOURCES</a:t>
            </a:r>
            <a:r>
              <a:rPr lang="en" sz="1100"/>
              <a:t>: Features like </a:t>
            </a:r>
            <a:r>
              <a:rPr lang="en" sz="1100">
                <a:solidFill>
                  <a:srgbClr val="188038"/>
                </a:solidFill>
                <a:latin typeface="Roboto Mono"/>
                <a:ea typeface="Roboto Mono"/>
                <a:cs typeface="Roboto Mono"/>
                <a:sym typeface="Roboto Mono"/>
              </a:rPr>
              <a:t>EXT_SOURCE_1</a:t>
            </a:r>
            <a:r>
              <a:rPr lang="en" sz="1100"/>
              <a:t>, </a:t>
            </a:r>
            <a:r>
              <a:rPr lang="en" sz="1100">
                <a:solidFill>
                  <a:srgbClr val="188038"/>
                </a:solidFill>
                <a:latin typeface="Roboto Mono"/>
                <a:ea typeface="Roboto Mono"/>
                <a:cs typeface="Roboto Mono"/>
                <a:sym typeface="Roboto Mono"/>
              </a:rPr>
              <a:t>EXT_SOURCE_2</a:t>
            </a:r>
            <a:r>
              <a:rPr lang="en" sz="1100"/>
              <a:t>, and </a:t>
            </a:r>
            <a:r>
              <a:rPr lang="en" sz="1100">
                <a:solidFill>
                  <a:srgbClr val="188038"/>
                </a:solidFill>
                <a:latin typeface="Roboto Mono"/>
                <a:ea typeface="Roboto Mono"/>
                <a:cs typeface="Roboto Mono"/>
                <a:sym typeface="Roboto Mono"/>
              </a:rPr>
              <a:t>EXT_SOURCE_3</a:t>
            </a:r>
            <a:r>
              <a:rPr lang="en" sz="1100"/>
              <a:t> might represent external credit risk factors or scores.</a:t>
            </a:r>
            <a:endParaRPr sz="1100"/>
          </a:p>
          <a:p>
            <a:pPr indent="0" lvl="0" marL="0" rtl="0" algn="l">
              <a:lnSpc>
                <a:spcPct val="115000"/>
              </a:lnSpc>
              <a:spcBef>
                <a:spcPts val="1200"/>
              </a:spcBef>
              <a:spcAft>
                <a:spcPts val="0"/>
              </a:spcAft>
              <a:buNone/>
            </a:pPr>
            <a:r>
              <a:rPr lang="en" sz="1100"/>
              <a:t>Some behavioral features, like DAYS_EMPLOYED, AMT_CREDIT, or EXT_SOURCE_1, was analyzed to understand financial behavior, which will inform certain elements of </a:t>
            </a:r>
            <a:r>
              <a:rPr b="1" lang="en" sz="1100"/>
              <a:t>fraudulent applications</a:t>
            </a:r>
            <a:r>
              <a:rPr lang="en" sz="1100"/>
              <a:t> or </a:t>
            </a:r>
            <a:r>
              <a:rPr b="1" lang="en" sz="1100"/>
              <a:t>credit misuse</a:t>
            </a:r>
            <a:r>
              <a:rPr lang="en" sz="1100"/>
              <a:t>.</a:t>
            </a:r>
            <a:endParaRPr sz="1100"/>
          </a:p>
          <a:p>
            <a:pPr indent="0" lvl="0" marL="0" rtl="0" algn="l">
              <a:lnSpc>
                <a:spcPct val="115000"/>
              </a:lnSpc>
              <a:spcBef>
                <a:spcPts val="1200"/>
              </a:spcBef>
              <a:spcAft>
                <a:spcPts val="0"/>
              </a:spcAft>
              <a:buNone/>
            </a:pPr>
            <a:r>
              <a:t/>
            </a:r>
            <a:endParaRPr sz="1100"/>
          </a:p>
          <a:p>
            <a:pPr indent="0" lvl="0" marL="0" rtl="0" algn="l">
              <a:spcBef>
                <a:spcPts val="1200"/>
              </a:spcBef>
              <a:spcAft>
                <a:spcPts val="0"/>
              </a:spcAft>
              <a:buNone/>
            </a:pPr>
            <a:r>
              <a:t/>
            </a:r>
            <a:endParaRPr sz="1300">
              <a:solidFill>
                <a:schemeClr val="dk2"/>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7"/>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ANALYSIS</a:t>
            </a:r>
            <a:endParaRPr/>
          </a:p>
        </p:txBody>
      </p:sp>
      <p:sp>
        <p:nvSpPr>
          <p:cNvPr id="153" name="Google Shape;153;p17"/>
          <p:cNvSpPr txBox="1"/>
          <p:nvPr>
            <p:ph idx="1" type="body"/>
          </p:nvPr>
        </p:nvSpPr>
        <p:spPr>
          <a:xfrm>
            <a:off x="819150" y="1990725"/>
            <a:ext cx="7505700" cy="2448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100">
                <a:solidFill>
                  <a:srgbClr val="000000"/>
                </a:solidFill>
                <a:latin typeface="Arial"/>
                <a:ea typeface="Arial"/>
                <a:cs typeface="Arial"/>
                <a:sym typeface="Arial"/>
              </a:rPr>
              <a:t>  </a:t>
            </a:r>
            <a:r>
              <a:rPr b="1" lang="en" sz="1100">
                <a:solidFill>
                  <a:srgbClr val="000000"/>
                </a:solidFill>
                <a:latin typeface="Arial"/>
                <a:ea typeface="Arial"/>
                <a:cs typeface="Arial"/>
                <a:sym typeface="Arial"/>
              </a:rPr>
              <a:t>Predictive Modeling</a:t>
            </a:r>
            <a:r>
              <a:rPr lang="en" sz="1100">
                <a:solidFill>
                  <a:srgbClr val="000000"/>
                </a:solidFill>
                <a:latin typeface="Arial"/>
                <a:ea typeface="Arial"/>
                <a:cs typeface="Arial"/>
                <a:sym typeface="Arial"/>
              </a:rPr>
              <a:t>: The target column (TARGET) was identified to be used for binary classification tasks to predict whether an customer is doing fraud or not..</a:t>
            </a:r>
            <a:endParaRPr sz="1100">
              <a:solidFill>
                <a:srgbClr val="000000"/>
              </a:solidFill>
              <a:latin typeface="Arial"/>
              <a:ea typeface="Arial"/>
              <a:cs typeface="Arial"/>
              <a:sym typeface="Arial"/>
            </a:endParaRPr>
          </a:p>
          <a:p>
            <a:pPr indent="0" lvl="0" marL="0" rtl="0" algn="l">
              <a:spcBef>
                <a:spcPts val="0"/>
              </a:spcBef>
              <a:spcAft>
                <a:spcPts val="0"/>
              </a:spcAft>
              <a:buNone/>
            </a:pPr>
            <a:r>
              <a:t/>
            </a:r>
            <a:endParaRPr sz="1100">
              <a:solidFill>
                <a:srgbClr val="000000"/>
              </a:solidFill>
              <a:latin typeface="Arial"/>
              <a:ea typeface="Arial"/>
              <a:cs typeface="Arial"/>
              <a:sym typeface="Arial"/>
            </a:endParaRPr>
          </a:p>
          <a:p>
            <a:pPr indent="0" lvl="0" marL="0" rtl="0" algn="l">
              <a:spcBef>
                <a:spcPts val="0"/>
              </a:spcBef>
              <a:spcAft>
                <a:spcPts val="0"/>
              </a:spcAft>
              <a:buNone/>
            </a:pPr>
            <a:r>
              <a:rPr lang="en" sz="1100">
                <a:solidFill>
                  <a:srgbClr val="000000"/>
                </a:solidFill>
                <a:latin typeface="Arial"/>
                <a:ea typeface="Arial"/>
                <a:cs typeface="Arial"/>
                <a:sym typeface="Arial"/>
              </a:rPr>
              <a:t>  </a:t>
            </a:r>
            <a:r>
              <a:rPr b="1" lang="en" sz="1100">
                <a:solidFill>
                  <a:srgbClr val="000000"/>
                </a:solidFill>
                <a:latin typeface="Arial"/>
                <a:ea typeface="Arial"/>
                <a:cs typeface="Arial"/>
                <a:sym typeface="Arial"/>
              </a:rPr>
              <a:t>Feature Engineering</a:t>
            </a:r>
            <a:r>
              <a:rPr lang="en" sz="1100">
                <a:solidFill>
                  <a:srgbClr val="000000"/>
                </a:solidFill>
                <a:latin typeface="Arial"/>
                <a:ea typeface="Arial"/>
                <a:cs typeface="Arial"/>
                <a:sym typeface="Arial"/>
              </a:rPr>
              <a:t>: the goal of us using feature engineering is to enhance the predictive power of or model by transforming raw data into formats or representations that better reveal the underlying patterns or relationships. Categorical columns (like NAME_CONTRACT_TYPE, CODE_GENDER) need encoding, while numerical columns might require normalization/scaling.</a:t>
            </a:r>
            <a:endParaRPr sz="1100">
              <a:solidFill>
                <a:srgbClr val="000000"/>
              </a:solidFill>
              <a:latin typeface="Arial"/>
              <a:ea typeface="Arial"/>
              <a:cs typeface="Arial"/>
              <a:sym typeface="Arial"/>
            </a:endParaRPr>
          </a:p>
          <a:p>
            <a:pPr indent="0" lvl="0" marL="0" rtl="0" algn="l">
              <a:spcBef>
                <a:spcPts val="0"/>
              </a:spcBef>
              <a:spcAft>
                <a:spcPts val="0"/>
              </a:spcAft>
              <a:buNone/>
            </a:pPr>
            <a:r>
              <a:t/>
            </a:r>
            <a:endParaRPr sz="1100">
              <a:solidFill>
                <a:srgbClr val="000000"/>
              </a:solidFill>
              <a:latin typeface="Arial"/>
              <a:ea typeface="Arial"/>
              <a:cs typeface="Arial"/>
              <a:sym typeface="Arial"/>
            </a:endParaRPr>
          </a:p>
          <a:p>
            <a:pPr indent="0" lvl="0" marL="0" rtl="0" algn="l">
              <a:spcBef>
                <a:spcPts val="0"/>
              </a:spcBef>
              <a:spcAft>
                <a:spcPts val="0"/>
              </a:spcAft>
              <a:buNone/>
            </a:pPr>
            <a:r>
              <a:rPr lang="en" sz="1100">
                <a:solidFill>
                  <a:srgbClr val="000000"/>
                </a:solidFill>
                <a:latin typeface="Arial"/>
                <a:ea typeface="Arial"/>
                <a:cs typeface="Arial"/>
                <a:sym typeface="Arial"/>
              </a:rPr>
              <a:t>  </a:t>
            </a:r>
            <a:r>
              <a:rPr b="1" lang="en" sz="1100">
                <a:solidFill>
                  <a:srgbClr val="000000"/>
                </a:solidFill>
                <a:latin typeface="Arial"/>
                <a:ea typeface="Arial"/>
                <a:cs typeface="Arial"/>
                <a:sym typeface="Arial"/>
              </a:rPr>
              <a:t>Data Preprocessing</a:t>
            </a:r>
            <a:r>
              <a:rPr lang="en" sz="1100">
                <a:solidFill>
                  <a:srgbClr val="000000"/>
                </a:solidFill>
                <a:latin typeface="Arial"/>
                <a:ea typeface="Arial"/>
                <a:cs typeface="Arial"/>
                <a:sym typeface="Arial"/>
              </a:rPr>
              <a:t>: Handle missing values, identify correlations, and clean data before applying any machine learning models.</a:t>
            </a:r>
            <a:endParaRPr sz="1100">
              <a:solidFill>
                <a:srgbClr val="000000"/>
              </a:solidFill>
              <a:latin typeface="Arial"/>
              <a:ea typeface="Arial"/>
              <a:cs typeface="Arial"/>
              <a:sym typeface="Arial"/>
            </a:endParaRPr>
          </a:p>
          <a:p>
            <a:pPr indent="0" lvl="0" marL="0" rtl="0" algn="l">
              <a:spcBef>
                <a:spcPts val="0"/>
              </a:spcBef>
              <a:spcAft>
                <a:spcPts val="12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18"/>
          <p:cNvSpPr txBox="1"/>
          <p:nvPr>
            <p:ph type="title"/>
          </p:nvPr>
        </p:nvSpPr>
        <p:spPr>
          <a:xfrm>
            <a:off x="819150" y="174325"/>
            <a:ext cx="7505700" cy="5664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Feature Engineering</a:t>
            </a:r>
            <a:endParaRPr/>
          </a:p>
        </p:txBody>
      </p:sp>
      <p:pic>
        <p:nvPicPr>
          <p:cNvPr id="159" name="Google Shape;159;p18"/>
          <p:cNvPicPr preferRelativeResize="0"/>
          <p:nvPr/>
        </p:nvPicPr>
        <p:blipFill>
          <a:blip r:embed="rId3">
            <a:alphaModFix/>
          </a:blip>
          <a:stretch>
            <a:fillRect/>
          </a:stretch>
        </p:blipFill>
        <p:spPr>
          <a:xfrm>
            <a:off x="4778350" y="2884375"/>
            <a:ext cx="3087890" cy="1930950"/>
          </a:xfrm>
          <a:prstGeom prst="rect">
            <a:avLst/>
          </a:prstGeom>
          <a:noFill/>
          <a:ln>
            <a:noFill/>
          </a:ln>
        </p:spPr>
      </p:pic>
      <p:pic>
        <p:nvPicPr>
          <p:cNvPr id="160" name="Google Shape;160;p18"/>
          <p:cNvPicPr preferRelativeResize="0"/>
          <p:nvPr/>
        </p:nvPicPr>
        <p:blipFill>
          <a:blip r:embed="rId4">
            <a:alphaModFix/>
          </a:blip>
          <a:stretch>
            <a:fillRect/>
          </a:stretch>
        </p:blipFill>
        <p:spPr>
          <a:xfrm>
            <a:off x="1644075" y="2884375"/>
            <a:ext cx="2988438" cy="1930951"/>
          </a:xfrm>
          <a:prstGeom prst="rect">
            <a:avLst/>
          </a:prstGeom>
          <a:noFill/>
          <a:ln>
            <a:noFill/>
          </a:ln>
        </p:spPr>
      </p:pic>
      <p:pic>
        <p:nvPicPr>
          <p:cNvPr id="161" name="Google Shape;161;p18"/>
          <p:cNvPicPr preferRelativeResize="0"/>
          <p:nvPr/>
        </p:nvPicPr>
        <p:blipFill>
          <a:blip r:embed="rId5">
            <a:alphaModFix/>
          </a:blip>
          <a:stretch>
            <a:fillRect/>
          </a:stretch>
        </p:blipFill>
        <p:spPr>
          <a:xfrm>
            <a:off x="4814837" y="934650"/>
            <a:ext cx="3014926" cy="1930950"/>
          </a:xfrm>
          <a:prstGeom prst="rect">
            <a:avLst/>
          </a:prstGeom>
          <a:noFill/>
          <a:ln>
            <a:noFill/>
          </a:ln>
        </p:spPr>
      </p:pic>
      <p:pic>
        <p:nvPicPr>
          <p:cNvPr id="162" name="Google Shape;162;p18"/>
          <p:cNvPicPr preferRelativeResize="0"/>
          <p:nvPr/>
        </p:nvPicPr>
        <p:blipFill>
          <a:blip r:embed="rId6">
            <a:alphaModFix/>
          </a:blip>
          <a:stretch>
            <a:fillRect/>
          </a:stretch>
        </p:blipFill>
        <p:spPr>
          <a:xfrm>
            <a:off x="1735950" y="980700"/>
            <a:ext cx="2896573" cy="1838850"/>
          </a:xfrm>
          <a:prstGeom prst="rect">
            <a:avLst/>
          </a:prstGeom>
          <a:noFill/>
          <a:ln>
            <a:noFill/>
          </a:ln>
        </p:spPr>
      </p:pic>
      <p:sp>
        <p:nvSpPr>
          <p:cNvPr id="163" name="Google Shape;163;p18"/>
          <p:cNvSpPr txBox="1"/>
          <p:nvPr/>
        </p:nvSpPr>
        <p:spPr>
          <a:xfrm>
            <a:off x="2991025" y="592525"/>
            <a:ext cx="2057400" cy="148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latin typeface="Calibri"/>
                <a:ea typeface="Calibri"/>
                <a:cs typeface="Calibri"/>
                <a:sym typeface="Calibri"/>
              </a:rPr>
              <a:t>Before</a:t>
            </a:r>
            <a:endParaRPr sz="1800">
              <a:solidFill>
                <a:schemeClr val="dk2"/>
              </a:solidFill>
              <a:latin typeface="Calibri"/>
              <a:ea typeface="Calibri"/>
              <a:cs typeface="Calibri"/>
              <a:sym typeface="Calibri"/>
            </a:endParaRPr>
          </a:p>
        </p:txBody>
      </p:sp>
      <p:sp>
        <p:nvSpPr>
          <p:cNvPr id="164" name="Google Shape;164;p18"/>
          <p:cNvSpPr txBox="1"/>
          <p:nvPr/>
        </p:nvSpPr>
        <p:spPr>
          <a:xfrm>
            <a:off x="6105875" y="592525"/>
            <a:ext cx="995700" cy="245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latin typeface="Calibri"/>
                <a:ea typeface="Calibri"/>
                <a:cs typeface="Calibri"/>
                <a:sym typeface="Calibri"/>
              </a:rPr>
              <a:t>After</a:t>
            </a:r>
            <a:endParaRPr sz="1800">
              <a:solidFill>
                <a:schemeClr val="dk2"/>
              </a:solidFill>
              <a:latin typeface="Calibri"/>
              <a:ea typeface="Calibri"/>
              <a:cs typeface="Calibri"/>
              <a:sym typeface="Calibri"/>
            </a:endParaRPr>
          </a:p>
        </p:txBody>
      </p:sp>
      <p:sp>
        <p:nvSpPr>
          <p:cNvPr id="165" name="Google Shape;165;p18"/>
          <p:cNvSpPr txBox="1"/>
          <p:nvPr/>
        </p:nvSpPr>
        <p:spPr>
          <a:xfrm>
            <a:off x="508725" y="1457625"/>
            <a:ext cx="1044900" cy="62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a:solidFill>
                  <a:schemeClr val="dk2"/>
                </a:solidFill>
                <a:latin typeface="Calibri"/>
                <a:ea typeface="Calibri"/>
                <a:cs typeface="Calibri"/>
                <a:sym typeface="Calibri"/>
              </a:rPr>
              <a:t>KNN Imputation</a:t>
            </a:r>
            <a:endParaRPr sz="1300">
              <a:solidFill>
                <a:schemeClr val="dk2"/>
              </a:solidFill>
              <a:latin typeface="Calibri"/>
              <a:ea typeface="Calibri"/>
              <a:cs typeface="Calibri"/>
              <a:sym typeface="Calibri"/>
            </a:endParaRPr>
          </a:p>
        </p:txBody>
      </p:sp>
      <p:sp>
        <p:nvSpPr>
          <p:cNvPr id="166" name="Google Shape;166;p18"/>
          <p:cNvSpPr txBox="1"/>
          <p:nvPr/>
        </p:nvSpPr>
        <p:spPr>
          <a:xfrm>
            <a:off x="400475" y="3503325"/>
            <a:ext cx="1243800" cy="56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a:solidFill>
                  <a:schemeClr val="dk2"/>
                </a:solidFill>
                <a:latin typeface="Calibri"/>
                <a:ea typeface="Calibri"/>
                <a:cs typeface="Calibri"/>
                <a:sym typeface="Calibri"/>
              </a:rPr>
              <a:t>Box-Cox Transformation</a:t>
            </a:r>
            <a:endParaRPr sz="1300">
              <a:solidFill>
                <a:schemeClr val="dk2"/>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19"/>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Imbalanced Classes</a:t>
            </a:r>
            <a:endParaRPr/>
          </a:p>
        </p:txBody>
      </p:sp>
      <p:pic>
        <p:nvPicPr>
          <p:cNvPr id="172" name="Google Shape;172;p19"/>
          <p:cNvPicPr preferRelativeResize="0"/>
          <p:nvPr/>
        </p:nvPicPr>
        <p:blipFill>
          <a:blip r:embed="rId3">
            <a:alphaModFix/>
          </a:blip>
          <a:stretch>
            <a:fillRect/>
          </a:stretch>
        </p:blipFill>
        <p:spPr>
          <a:xfrm>
            <a:off x="1321375" y="1573775"/>
            <a:ext cx="4969713" cy="3038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0"/>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Undersampling/Oversampling</a:t>
            </a:r>
            <a:endParaRPr/>
          </a:p>
        </p:txBody>
      </p:sp>
      <p:pic>
        <p:nvPicPr>
          <p:cNvPr id="178" name="Google Shape;178;p20"/>
          <p:cNvPicPr preferRelativeResize="0"/>
          <p:nvPr/>
        </p:nvPicPr>
        <p:blipFill>
          <a:blip r:embed="rId3">
            <a:alphaModFix/>
          </a:blip>
          <a:stretch>
            <a:fillRect/>
          </a:stretch>
        </p:blipFill>
        <p:spPr>
          <a:xfrm>
            <a:off x="512388" y="1927699"/>
            <a:ext cx="8119225" cy="24351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1"/>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SMOTE</a:t>
            </a:r>
            <a:endParaRPr/>
          </a:p>
        </p:txBody>
      </p:sp>
      <p:pic>
        <p:nvPicPr>
          <p:cNvPr id="184" name="Google Shape;184;p21"/>
          <p:cNvPicPr preferRelativeResize="0"/>
          <p:nvPr/>
        </p:nvPicPr>
        <p:blipFill>
          <a:blip r:embed="rId3">
            <a:alphaModFix/>
          </a:blip>
          <a:stretch>
            <a:fillRect/>
          </a:stretch>
        </p:blipFill>
        <p:spPr>
          <a:xfrm>
            <a:off x="1183700" y="1554800"/>
            <a:ext cx="6667500" cy="296187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2"/>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ADASYN</a:t>
            </a:r>
            <a:endParaRPr/>
          </a:p>
        </p:txBody>
      </p:sp>
      <p:pic>
        <p:nvPicPr>
          <p:cNvPr id="190" name="Google Shape;190;p22"/>
          <p:cNvPicPr preferRelativeResize="0"/>
          <p:nvPr/>
        </p:nvPicPr>
        <p:blipFill>
          <a:blip r:embed="rId3">
            <a:alphaModFix/>
          </a:blip>
          <a:stretch>
            <a:fillRect/>
          </a:stretch>
        </p:blipFill>
        <p:spPr>
          <a:xfrm>
            <a:off x="1407975" y="1562950"/>
            <a:ext cx="1989622" cy="3038499"/>
          </a:xfrm>
          <a:prstGeom prst="rect">
            <a:avLst/>
          </a:prstGeom>
          <a:noFill/>
          <a:ln>
            <a:noFill/>
          </a:ln>
        </p:spPr>
      </p:pic>
      <p:pic>
        <p:nvPicPr>
          <p:cNvPr id="191" name="Google Shape;191;p22"/>
          <p:cNvPicPr preferRelativeResize="0"/>
          <p:nvPr/>
        </p:nvPicPr>
        <p:blipFill>
          <a:blip r:embed="rId4">
            <a:alphaModFix/>
          </a:blip>
          <a:stretch>
            <a:fillRect/>
          </a:stretch>
        </p:blipFill>
        <p:spPr>
          <a:xfrm>
            <a:off x="3788122" y="1562950"/>
            <a:ext cx="1906405" cy="3038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3"/>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Class Balance</a:t>
            </a:r>
            <a:endParaRPr/>
          </a:p>
        </p:txBody>
      </p:sp>
      <p:pic>
        <p:nvPicPr>
          <p:cNvPr id="197" name="Google Shape;197;p23"/>
          <p:cNvPicPr preferRelativeResize="0"/>
          <p:nvPr/>
        </p:nvPicPr>
        <p:blipFill>
          <a:blip r:embed="rId3">
            <a:alphaModFix/>
          </a:blip>
          <a:stretch>
            <a:fillRect/>
          </a:stretch>
        </p:blipFill>
        <p:spPr>
          <a:xfrm>
            <a:off x="888425" y="1953275"/>
            <a:ext cx="3489692" cy="2253525"/>
          </a:xfrm>
          <a:prstGeom prst="rect">
            <a:avLst/>
          </a:prstGeom>
          <a:noFill/>
          <a:ln>
            <a:noFill/>
          </a:ln>
        </p:spPr>
      </p:pic>
      <p:pic>
        <p:nvPicPr>
          <p:cNvPr id="198" name="Google Shape;198;p23"/>
          <p:cNvPicPr preferRelativeResize="0"/>
          <p:nvPr/>
        </p:nvPicPr>
        <p:blipFill>
          <a:blip r:embed="rId4">
            <a:alphaModFix/>
          </a:blip>
          <a:stretch>
            <a:fillRect/>
          </a:stretch>
        </p:blipFill>
        <p:spPr>
          <a:xfrm>
            <a:off x="4828962" y="403127"/>
            <a:ext cx="3348025" cy="2253517"/>
          </a:xfrm>
          <a:prstGeom prst="rect">
            <a:avLst/>
          </a:prstGeom>
          <a:noFill/>
          <a:ln>
            <a:noFill/>
          </a:ln>
        </p:spPr>
      </p:pic>
      <p:pic>
        <p:nvPicPr>
          <p:cNvPr id="199" name="Google Shape;199;p23"/>
          <p:cNvPicPr preferRelativeResize="0"/>
          <p:nvPr/>
        </p:nvPicPr>
        <p:blipFill>
          <a:blip r:embed="rId5">
            <a:alphaModFix/>
          </a:blip>
          <a:stretch>
            <a:fillRect/>
          </a:stretch>
        </p:blipFill>
        <p:spPr>
          <a:xfrm>
            <a:off x="4935550" y="2773676"/>
            <a:ext cx="3134851" cy="21491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24"/>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Evaluation Metrics</a:t>
            </a:r>
            <a:endParaRPr/>
          </a:p>
        </p:txBody>
      </p:sp>
      <p:pic>
        <p:nvPicPr>
          <p:cNvPr id="205" name="Google Shape;205;p24"/>
          <p:cNvPicPr preferRelativeResize="0"/>
          <p:nvPr/>
        </p:nvPicPr>
        <p:blipFill>
          <a:blip r:embed="rId3">
            <a:alphaModFix/>
          </a:blip>
          <a:stretch>
            <a:fillRect/>
          </a:stretch>
        </p:blipFill>
        <p:spPr>
          <a:xfrm>
            <a:off x="1196575" y="1669200"/>
            <a:ext cx="3287928" cy="3038499"/>
          </a:xfrm>
          <a:prstGeom prst="rect">
            <a:avLst/>
          </a:prstGeom>
          <a:noFill/>
          <a:ln>
            <a:noFill/>
          </a:ln>
        </p:spPr>
      </p:pic>
      <p:pic>
        <p:nvPicPr>
          <p:cNvPr id="206" name="Google Shape;206;p24"/>
          <p:cNvPicPr preferRelativeResize="0"/>
          <p:nvPr/>
        </p:nvPicPr>
        <p:blipFill>
          <a:blip r:embed="rId4">
            <a:alphaModFix/>
          </a:blip>
          <a:stretch>
            <a:fillRect/>
          </a:stretch>
        </p:blipFill>
        <p:spPr>
          <a:xfrm>
            <a:off x="4572003" y="1669200"/>
            <a:ext cx="2908279" cy="30385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5"/>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Evaluation Metrics</a:t>
            </a:r>
            <a:endParaRPr/>
          </a:p>
        </p:txBody>
      </p:sp>
      <p:pic>
        <p:nvPicPr>
          <p:cNvPr id="212" name="Google Shape;212;p25"/>
          <p:cNvPicPr preferRelativeResize="0"/>
          <p:nvPr/>
        </p:nvPicPr>
        <p:blipFill>
          <a:blip r:embed="rId3">
            <a:alphaModFix/>
          </a:blip>
          <a:stretch>
            <a:fillRect/>
          </a:stretch>
        </p:blipFill>
        <p:spPr>
          <a:xfrm>
            <a:off x="819150" y="1599350"/>
            <a:ext cx="4148722" cy="3038500"/>
          </a:xfrm>
          <a:prstGeom prst="rect">
            <a:avLst/>
          </a:prstGeom>
          <a:noFill/>
          <a:ln>
            <a:noFill/>
          </a:ln>
        </p:spPr>
      </p:pic>
      <p:pic>
        <p:nvPicPr>
          <p:cNvPr id="213" name="Google Shape;213;p25"/>
          <p:cNvPicPr preferRelativeResize="0"/>
          <p:nvPr/>
        </p:nvPicPr>
        <p:blipFill>
          <a:blip r:embed="rId4">
            <a:alphaModFix/>
          </a:blip>
          <a:stretch>
            <a:fillRect/>
          </a:stretch>
        </p:blipFill>
        <p:spPr>
          <a:xfrm>
            <a:off x="5120272" y="1599350"/>
            <a:ext cx="3502442" cy="303849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6"/>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Models</a:t>
            </a:r>
            <a:endParaRPr/>
          </a:p>
        </p:txBody>
      </p:sp>
      <p:sp>
        <p:nvSpPr>
          <p:cNvPr id="219" name="Google Shape;219;p26"/>
          <p:cNvSpPr txBox="1"/>
          <p:nvPr>
            <p:ph idx="1" type="body"/>
          </p:nvPr>
        </p:nvSpPr>
        <p:spPr>
          <a:xfrm>
            <a:off x="819150" y="1528275"/>
            <a:ext cx="7505700" cy="24480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KNN, Logistic Regression, Naive Bayes, Decision Tree, Random Forest, AdaBoost, and XGBoost</a:t>
            </a:r>
            <a:endParaRPr/>
          </a:p>
          <a:p>
            <a:pPr indent="-311150" lvl="0" marL="457200" rtl="0" algn="l">
              <a:spcBef>
                <a:spcPts val="0"/>
              </a:spcBef>
              <a:spcAft>
                <a:spcPts val="0"/>
              </a:spcAft>
              <a:buSzPts val="1300"/>
              <a:buChar char="●"/>
            </a:pPr>
            <a:r>
              <a:rPr lang="en"/>
              <a:t>All models trained on original data, SMOTE data and ADASYN data for comparison, but only tested on unaltered test set (20% of original data using a stratified train test split)</a:t>
            </a:r>
            <a:endParaRPr/>
          </a:p>
          <a:p>
            <a:pPr indent="-311150" lvl="0" marL="457200" rtl="0" algn="l">
              <a:spcBef>
                <a:spcPts val="0"/>
              </a:spcBef>
              <a:spcAft>
                <a:spcPts val="0"/>
              </a:spcAft>
              <a:buSzPts val="1300"/>
              <a:buChar char="●"/>
            </a:pPr>
            <a:r>
              <a:rPr lang="en"/>
              <a:t>Hyperparameter tuning was initially attempted using grid search, but could only test a limited number of combinations due to dataset size even with only 15% of the samples being used in training. This reduction in training samples resulted in relatively poor performance so default hyperparameters were used and the entire dataset was used for training.</a:t>
            </a:r>
            <a:endParaRPr/>
          </a:p>
        </p:txBody>
      </p:sp>
      <p:pic>
        <p:nvPicPr>
          <p:cNvPr descr="building effective machine learning models" id="220" name="Google Shape;220;p26"/>
          <p:cNvPicPr preferRelativeResize="0"/>
          <p:nvPr/>
        </p:nvPicPr>
        <p:blipFill>
          <a:blip r:embed="rId3">
            <a:alphaModFix/>
          </a:blip>
          <a:stretch>
            <a:fillRect/>
          </a:stretch>
        </p:blipFill>
        <p:spPr>
          <a:xfrm>
            <a:off x="5628600" y="3137650"/>
            <a:ext cx="2624975" cy="17468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27"/>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Results</a:t>
            </a:r>
            <a:endParaRPr/>
          </a:p>
        </p:txBody>
      </p:sp>
      <p:pic>
        <p:nvPicPr>
          <p:cNvPr id="226" name="Google Shape;226;p27"/>
          <p:cNvPicPr preferRelativeResize="0"/>
          <p:nvPr/>
        </p:nvPicPr>
        <p:blipFill>
          <a:blip r:embed="rId3">
            <a:alphaModFix/>
          </a:blip>
          <a:stretch>
            <a:fillRect/>
          </a:stretch>
        </p:blipFill>
        <p:spPr>
          <a:xfrm>
            <a:off x="2345175" y="503333"/>
            <a:ext cx="3253600" cy="998267"/>
          </a:xfrm>
          <a:prstGeom prst="rect">
            <a:avLst/>
          </a:prstGeom>
          <a:noFill/>
          <a:ln>
            <a:noFill/>
          </a:ln>
        </p:spPr>
      </p:pic>
      <p:pic>
        <p:nvPicPr>
          <p:cNvPr id="227" name="Google Shape;227;p27"/>
          <p:cNvPicPr preferRelativeResize="0"/>
          <p:nvPr/>
        </p:nvPicPr>
        <p:blipFill>
          <a:blip r:embed="rId4">
            <a:alphaModFix/>
          </a:blip>
          <a:stretch>
            <a:fillRect/>
          </a:stretch>
        </p:blipFill>
        <p:spPr>
          <a:xfrm>
            <a:off x="2136350" y="1691725"/>
            <a:ext cx="3253600" cy="1131050"/>
          </a:xfrm>
          <a:prstGeom prst="rect">
            <a:avLst/>
          </a:prstGeom>
          <a:noFill/>
          <a:ln>
            <a:noFill/>
          </a:ln>
        </p:spPr>
      </p:pic>
      <p:pic>
        <p:nvPicPr>
          <p:cNvPr id="228" name="Google Shape;228;p27"/>
          <p:cNvPicPr preferRelativeResize="0"/>
          <p:nvPr/>
        </p:nvPicPr>
        <p:blipFill>
          <a:blip r:embed="rId5">
            <a:alphaModFix/>
          </a:blip>
          <a:stretch>
            <a:fillRect/>
          </a:stretch>
        </p:blipFill>
        <p:spPr>
          <a:xfrm>
            <a:off x="2345175" y="3012906"/>
            <a:ext cx="3253600" cy="1029119"/>
          </a:xfrm>
          <a:prstGeom prst="rect">
            <a:avLst/>
          </a:prstGeom>
          <a:noFill/>
          <a:ln>
            <a:noFill/>
          </a:ln>
        </p:spPr>
      </p:pic>
      <p:pic>
        <p:nvPicPr>
          <p:cNvPr id="229" name="Google Shape;229;p27"/>
          <p:cNvPicPr preferRelativeResize="0"/>
          <p:nvPr/>
        </p:nvPicPr>
        <p:blipFill>
          <a:blip r:embed="rId6">
            <a:alphaModFix/>
          </a:blip>
          <a:stretch>
            <a:fillRect/>
          </a:stretch>
        </p:blipFill>
        <p:spPr>
          <a:xfrm>
            <a:off x="5598775" y="525159"/>
            <a:ext cx="3210284" cy="954600"/>
          </a:xfrm>
          <a:prstGeom prst="rect">
            <a:avLst/>
          </a:prstGeom>
          <a:noFill/>
          <a:ln>
            <a:noFill/>
          </a:ln>
        </p:spPr>
      </p:pic>
      <p:pic>
        <p:nvPicPr>
          <p:cNvPr id="230" name="Google Shape;230;p27"/>
          <p:cNvPicPr preferRelativeResize="0"/>
          <p:nvPr/>
        </p:nvPicPr>
        <p:blipFill>
          <a:blip r:embed="rId7">
            <a:alphaModFix/>
          </a:blip>
          <a:stretch>
            <a:fillRect/>
          </a:stretch>
        </p:blipFill>
        <p:spPr>
          <a:xfrm>
            <a:off x="5598784" y="1763897"/>
            <a:ext cx="3092559" cy="998275"/>
          </a:xfrm>
          <a:prstGeom prst="rect">
            <a:avLst/>
          </a:prstGeom>
          <a:noFill/>
          <a:ln>
            <a:noFill/>
          </a:ln>
        </p:spPr>
      </p:pic>
      <p:pic>
        <p:nvPicPr>
          <p:cNvPr id="231" name="Google Shape;231;p27"/>
          <p:cNvPicPr preferRelativeResize="0"/>
          <p:nvPr/>
        </p:nvPicPr>
        <p:blipFill>
          <a:blip r:embed="rId8">
            <a:alphaModFix/>
          </a:blip>
          <a:stretch>
            <a:fillRect/>
          </a:stretch>
        </p:blipFill>
        <p:spPr>
          <a:xfrm>
            <a:off x="5598775" y="3024465"/>
            <a:ext cx="3210275" cy="10059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8"/>
          <p:cNvSpPr txBox="1"/>
          <p:nvPr>
            <p:ph type="title"/>
          </p:nvPr>
        </p:nvSpPr>
        <p:spPr>
          <a:xfrm>
            <a:off x="819150" y="42795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Results</a:t>
            </a:r>
            <a:endParaRPr/>
          </a:p>
        </p:txBody>
      </p:sp>
      <p:sp>
        <p:nvSpPr>
          <p:cNvPr id="237" name="Google Shape;237;p28"/>
          <p:cNvSpPr txBox="1"/>
          <p:nvPr>
            <p:ph idx="1" type="body"/>
          </p:nvPr>
        </p:nvSpPr>
        <p:spPr>
          <a:xfrm>
            <a:off x="819150" y="991325"/>
            <a:ext cx="7505700" cy="24480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The Gaussian Naive Bayes classifier performed the best in terms of F2 score, but did so because it predicted default a very high percentage of the time, as shown in the confusion matrix on the left</a:t>
            </a:r>
            <a:endParaRPr/>
          </a:p>
          <a:p>
            <a:pPr indent="-311150" lvl="0" marL="457200" rtl="0" algn="l">
              <a:spcBef>
                <a:spcPts val="0"/>
              </a:spcBef>
              <a:spcAft>
                <a:spcPts val="0"/>
              </a:spcAft>
              <a:buSzPts val="1300"/>
              <a:buChar char="●"/>
            </a:pPr>
            <a:r>
              <a:rPr lang="en"/>
              <a:t>Using a Hybrid Naive Bayes classifier (uses Gaussian Naive Bayes for continuous features and Bernoulli Naive Bayes for binary features) with a larger smoothing parameter achieved a similar F2 score with a much more reasonable distribution of predicted classes, as shown in the confusion matrix on the right</a:t>
            </a:r>
            <a:endParaRPr/>
          </a:p>
        </p:txBody>
      </p:sp>
      <p:pic>
        <p:nvPicPr>
          <p:cNvPr id="238" name="Google Shape;238;p28"/>
          <p:cNvPicPr preferRelativeResize="0"/>
          <p:nvPr/>
        </p:nvPicPr>
        <p:blipFill>
          <a:blip r:embed="rId3">
            <a:alphaModFix/>
          </a:blip>
          <a:stretch>
            <a:fillRect/>
          </a:stretch>
        </p:blipFill>
        <p:spPr>
          <a:xfrm>
            <a:off x="4691500" y="2198950"/>
            <a:ext cx="3129874" cy="2652675"/>
          </a:xfrm>
          <a:prstGeom prst="rect">
            <a:avLst/>
          </a:prstGeom>
          <a:noFill/>
          <a:ln>
            <a:noFill/>
          </a:ln>
        </p:spPr>
      </p:pic>
      <p:pic>
        <p:nvPicPr>
          <p:cNvPr id="239" name="Google Shape;239;p28"/>
          <p:cNvPicPr preferRelativeResize="0"/>
          <p:nvPr/>
        </p:nvPicPr>
        <p:blipFill>
          <a:blip r:embed="rId4">
            <a:alphaModFix/>
          </a:blip>
          <a:stretch>
            <a:fillRect/>
          </a:stretch>
        </p:blipFill>
        <p:spPr>
          <a:xfrm>
            <a:off x="934450" y="2198950"/>
            <a:ext cx="3380824" cy="27046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29"/>
          <p:cNvSpPr txBox="1"/>
          <p:nvPr>
            <p:ph type="title"/>
          </p:nvPr>
        </p:nvSpPr>
        <p:spPr>
          <a:xfrm>
            <a:off x="819150" y="845600"/>
            <a:ext cx="7505700" cy="954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Conclusion</a:t>
            </a:r>
            <a:endParaRPr/>
          </a:p>
        </p:txBody>
      </p:sp>
      <p:sp>
        <p:nvSpPr>
          <p:cNvPr id="245" name="Google Shape;245;p29"/>
          <p:cNvSpPr txBox="1"/>
          <p:nvPr>
            <p:ph idx="1" type="body"/>
          </p:nvPr>
        </p:nvSpPr>
        <p:spPr>
          <a:xfrm>
            <a:off x="819150" y="1722225"/>
            <a:ext cx="7505700" cy="2448000"/>
          </a:xfrm>
          <a:prstGeom prst="rect">
            <a:avLst/>
          </a:prstGeom>
        </p:spPr>
        <p:txBody>
          <a:bodyPr anchorCtr="0" anchor="t" bIns="91425" lIns="91425" spcFirstLastPara="1" rIns="91425" wrap="square" tIns="91425">
            <a:normAutofit lnSpcReduction="20000"/>
          </a:bodyPr>
          <a:lstStyle/>
          <a:p>
            <a:pPr indent="-311150" lvl="0" marL="457200" rtl="0" algn="l">
              <a:spcBef>
                <a:spcPts val="0"/>
              </a:spcBef>
              <a:spcAft>
                <a:spcPts val="0"/>
              </a:spcAft>
              <a:buSzPts val="1300"/>
              <a:buChar char="●"/>
            </a:pPr>
            <a:r>
              <a:rPr lang="en"/>
              <a:t>Naive Bayes performs extremely well in terms of recall and has the best F2 scores. It initially did so because of a </a:t>
            </a:r>
            <a:r>
              <a:rPr lang="en"/>
              <a:t>disproportionately high predicted default rate, but this was improved using hybrid approach and larger smoothing parameter</a:t>
            </a:r>
            <a:endParaRPr/>
          </a:p>
          <a:p>
            <a:pPr indent="-311150" lvl="0" marL="457200" rtl="0" algn="l">
              <a:spcBef>
                <a:spcPts val="0"/>
              </a:spcBef>
              <a:spcAft>
                <a:spcPts val="0"/>
              </a:spcAft>
              <a:buSzPts val="1300"/>
              <a:buChar char="●"/>
            </a:pPr>
            <a:r>
              <a:rPr lang="en"/>
              <a:t>More complex models that perform better in most circumstances, especially XGBoost struggled</a:t>
            </a:r>
            <a:endParaRPr/>
          </a:p>
          <a:p>
            <a:pPr indent="-311150" lvl="0" marL="457200" rtl="0" algn="l">
              <a:spcBef>
                <a:spcPts val="0"/>
              </a:spcBef>
              <a:spcAft>
                <a:spcPts val="0"/>
              </a:spcAft>
              <a:buSzPts val="1300"/>
              <a:buChar char="●"/>
            </a:pPr>
            <a:r>
              <a:rPr lang="en"/>
              <a:t>Models trained on SMOTE and ADASYN data performed better in terms of F2 score than those trained on original data, especially pronounced for KNN because SMOTE and ADASYN generate nearby neighbors of the same class</a:t>
            </a:r>
            <a:endParaRPr/>
          </a:p>
          <a:p>
            <a:pPr indent="-311150" lvl="0" marL="457200" rtl="0" algn="l">
              <a:spcBef>
                <a:spcPts val="0"/>
              </a:spcBef>
              <a:spcAft>
                <a:spcPts val="0"/>
              </a:spcAft>
              <a:buSzPts val="1300"/>
              <a:buChar char="●"/>
            </a:pPr>
            <a:r>
              <a:rPr lang="en"/>
              <a:t>Possible directions for improvement/What could’ve been done differently:</a:t>
            </a:r>
            <a:endParaRPr/>
          </a:p>
          <a:p>
            <a:pPr indent="-298450" lvl="1" marL="914400" rtl="0" algn="l">
              <a:spcBef>
                <a:spcPts val="0"/>
              </a:spcBef>
              <a:spcAft>
                <a:spcPts val="0"/>
              </a:spcAft>
              <a:buSzPts val="1100"/>
              <a:buChar char="○"/>
            </a:pPr>
            <a:r>
              <a:rPr lang="en"/>
              <a:t>Ordinal encodings for features like education level</a:t>
            </a:r>
            <a:endParaRPr/>
          </a:p>
          <a:p>
            <a:pPr indent="-298450" lvl="1" marL="914400" rtl="0" algn="l">
              <a:spcBef>
                <a:spcPts val="0"/>
              </a:spcBef>
              <a:spcAft>
                <a:spcPts val="0"/>
              </a:spcAft>
              <a:buSzPts val="1100"/>
              <a:buChar char="○"/>
            </a:pPr>
            <a:r>
              <a:rPr lang="en"/>
              <a:t>More time spent tuning hyperparameters</a:t>
            </a:r>
            <a:endParaRPr/>
          </a:p>
          <a:p>
            <a:pPr indent="-298450" lvl="1" marL="914400" rtl="0" algn="l">
              <a:spcBef>
                <a:spcPts val="0"/>
              </a:spcBef>
              <a:spcAft>
                <a:spcPts val="0"/>
              </a:spcAft>
              <a:buSzPts val="1100"/>
              <a:buChar char="○"/>
            </a:pPr>
            <a:r>
              <a:rPr lang="en"/>
              <a:t>Examining different classification thresholds</a:t>
            </a:r>
            <a:endParaRPr/>
          </a:p>
          <a:p>
            <a:pPr indent="-298450" lvl="1" marL="914400" rtl="0" algn="l">
              <a:spcBef>
                <a:spcPts val="0"/>
              </a:spcBef>
              <a:spcAft>
                <a:spcPts val="0"/>
              </a:spcAft>
              <a:buSzPts val="1100"/>
              <a:buChar char="○"/>
            </a:pPr>
            <a:r>
              <a:rPr lang="en"/>
              <a:t>Analysis of feature importances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hift">
  <a:themeElements>
    <a:clrScheme name="Shift">
      <a:dk1>
        <a:srgbClr val="FFFFFF"/>
      </a:dk1>
      <a:lt1>
        <a:srgbClr val="AF7B51"/>
      </a:lt1>
      <a:dk2>
        <a:srgbClr val="233A44"/>
      </a:dk2>
      <a:lt2>
        <a:srgbClr val="D9D9D9"/>
      </a:lt2>
      <a:accent1>
        <a:srgbClr val="00796B"/>
      </a:accent1>
      <a:accent2>
        <a:srgbClr val="D9563F"/>
      </a:accent2>
      <a:accent3>
        <a:srgbClr val="C4A15A"/>
      </a:accent3>
      <a:accent4>
        <a:srgbClr val="14F597"/>
      </a:accent4>
      <a:accent5>
        <a:srgbClr val="3D4594"/>
      </a:accent5>
      <a:accent6>
        <a:srgbClr val="163EF5"/>
      </a:accent6>
      <a:hlink>
        <a:srgbClr val="3D4594"/>
      </a:hlink>
      <a:folHlink>
        <a:srgbClr val="3D459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