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9144000" cy="5143500" type="screen16x9"/>
  <p:notesSz cx="6858000" cy="9144000"/>
  <p:embeddedFontLst>
    <p:embeddedFont>
      <p:font typeface="Nunito" pitchFamily="2" charset="0"/>
      <p:regular r:id="rId19"/>
      <p:bold r:id="rId20"/>
      <p:italic r:id="rId21"/>
      <p:boldItalic r:id="rId22"/>
    </p:embeddedFont>
    <p:embeddedFont>
      <p:font typeface="Roboto Mono" panose="00000009000000000000" pitchFamily="49"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56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21457fc196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21457fc196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1e490f596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1e490f596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1e490f5968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1e490f596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21457fc196_0_3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21457fc196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21457fc196_0_4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21457fc196_0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21457fc196_0_4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21457fc196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21457fc196_0_4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21457fc196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21457fc196_0_4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21457fc196_0_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21457fc196_0_4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21457fc196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23d8c9fca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23d8c9fc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21457fc196_0_4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21457fc196_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21457fc196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21457fc196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21457fc196_0_4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21457fc196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23fc4411f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23fc4411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21457fc196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21457fc196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nilsonreport.com/upload/content_promo/The_Nilson_Report_Issue_1164.pdf"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Predicting Credit Defaults Using Imbalanced Data Techniques</a:t>
            </a:r>
            <a:endParaRPr/>
          </a:p>
        </p:txBody>
      </p:sp>
      <p:sp>
        <p:nvSpPr>
          <p:cNvPr id="129" name="Google Shape;129;p13"/>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Alex Ojemann and Dehkontee Chea Cuppah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Introduction</a:t>
            </a:r>
            <a:endParaRPr/>
          </a:p>
        </p:txBody>
      </p:sp>
      <p:sp>
        <p:nvSpPr>
          <p:cNvPr id="135" name="Google Shape;135;p14"/>
          <p:cNvSpPr txBox="1">
            <a:spLocks noGrp="1"/>
          </p:cNvSpPr>
          <p:nvPr>
            <p:ph type="body" idx="1"/>
          </p:nvPr>
        </p:nvSpPr>
        <p:spPr>
          <a:xfrm>
            <a:off x="819150" y="1544175"/>
            <a:ext cx="7505700" cy="289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a:solidFill>
                  <a:srgbClr val="000000"/>
                </a:solidFill>
                <a:latin typeface="Arial"/>
                <a:ea typeface="Arial"/>
                <a:cs typeface="Arial"/>
                <a:sym typeface="Arial"/>
              </a:rPr>
              <a:t>For many banks, retaining high profitable customers is the number one business goal. Banking fraud, however, poses a significant threat to this goal for different banks. In terms of substantial financial losses, trust and credibility, this is a concerning issue to both banks and customers alike.</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It has been estimated by a </a:t>
            </a:r>
            <a:r>
              <a:rPr lang="en" sz="1100">
                <a:solidFill>
                  <a:srgbClr val="000000"/>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Nilson</a:t>
            </a:r>
            <a:r>
              <a:rPr lang="en" sz="1100">
                <a:solidFill>
                  <a:srgbClr val="000000"/>
                </a:solidFill>
                <a:latin typeface="Arial"/>
                <a:ea typeface="Arial"/>
                <a:cs typeface="Arial"/>
                <a:sym typeface="Arial"/>
              </a:rPr>
              <a:t> report that by 2025 the banking frauds would account to approximately $50 billion worldwide. With the rise in digital payment channels, the number of fraudulent transactions is also increasing with new and different ways.</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In the banking industry, credit card fraud detection using machine learning is not just a trend but a necessity for them to put proactive monitoring and fraud prevention mechanisms in place. Machine learning is helping these institutions to reduce time-consuming manual reviews, costly chargebacks and fees, and denials of legitimate transactions.</a:t>
            </a:r>
            <a:endParaRPr sz="1100">
              <a:solidFill>
                <a:srgbClr val="000000"/>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Dataset Structure</a:t>
            </a:r>
            <a:endParaRPr/>
          </a:p>
        </p:txBody>
      </p:sp>
      <p:sp>
        <p:nvSpPr>
          <p:cNvPr id="147" name="Google Shape;147;p16"/>
          <p:cNvSpPr txBox="1"/>
          <p:nvPr/>
        </p:nvSpPr>
        <p:spPr>
          <a:xfrm>
            <a:off x="658550" y="1430650"/>
            <a:ext cx="7857300" cy="338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t>The dataset was retrieved from an open-source website, Kaggle.com. it contains data of transactions that were made in 2013 by credit card users in Europe.</a:t>
            </a:r>
            <a:endParaRPr sz="1200"/>
          </a:p>
          <a:p>
            <a:pPr marL="0" lvl="0" indent="0" algn="l" rtl="0">
              <a:lnSpc>
                <a:spcPct val="115000"/>
              </a:lnSpc>
              <a:spcBef>
                <a:spcPts val="1200"/>
              </a:spcBef>
              <a:spcAft>
                <a:spcPts val="0"/>
              </a:spcAft>
              <a:buNone/>
            </a:pPr>
            <a:r>
              <a:rPr lang="en" sz="1200"/>
              <a:t>The dataset contains:</a:t>
            </a:r>
            <a:endParaRPr sz="1200"/>
          </a:p>
          <a:p>
            <a:pPr marL="0" lvl="0" indent="0" algn="l" rtl="0">
              <a:lnSpc>
                <a:spcPct val="115000"/>
              </a:lnSpc>
              <a:spcBef>
                <a:spcPts val="1200"/>
              </a:spcBef>
              <a:spcAft>
                <a:spcPts val="0"/>
              </a:spcAft>
              <a:buNone/>
            </a:pPr>
            <a:r>
              <a:rPr lang="en" sz="1100" b="1"/>
              <a:t>Rows</a:t>
            </a:r>
            <a:r>
              <a:rPr lang="en" sz="1100"/>
              <a:t>: The dataset contains </a:t>
            </a:r>
            <a:r>
              <a:rPr lang="en" sz="1100" b="1"/>
              <a:t>65,535 entries</a:t>
            </a:r>
            <a:r>
              <a:rPr lang="en" sz="1100"/>
              <a:t>.</a:t>
            </a:r>
            <a:endParaRPr sz="1100"/>
          </a:p>
          <a:p>
            <a:pPr marL="0" lvl="0" indent="0" algn="l" rtl="0">
              <a:lnSpc>
                <a:spcPct val="115000"/>
              </a:lnSpc>
              <a:spcBef>
                <a:spcPts val="1200"/>
              </a:spcBef>
              <a:spcAft>
                <a:spcPts val="0"/>
              </a:spcAft>
              <a:buNone/>
            </a:pPr>
            <a:r>
              <a:rPr lang="en" sz="1100" b="1"/>
              <a:t>Columns</a:t>
            </a:r>
            <a:r>
              <a:rPr lang="en" sz="1100"/>
              <a:t>: There are </a:t>
            </a:r>
            <a:r>
              <a:rPr lang="en" sz="1100" b="1"/>
              <a:t>122 columns</a:t>
            </a:r>
            <a:r>
              <a:rPr lang="en" sz="1100"/>
              <a:t>, featuring a mix of numeric and categorical data. Some key columns are:</a:t>
            </a:r>
            <a:endParaRPr sz="1100"/>
          </a:p>
          <a:p>
            <a:pPr marL="457200" lvl="0" indent="-298450" algn="l" rtl="0">
              <a:lnSpc>
                <a:spcPct val="115000"/>
              </a:lnSpc>
              <a:spcBef>
                <a:spcPts val="1200"/>
              </a:spcBef>
              <a:spcAft>
                <a:spcPts val="0"/>
              </a:spcAft>
              <a:buSzPts val="1100"/>
              <a:buChar char="●"/>
            </a:pPr>
            <a:r>
              <a:rPr lang="en" sz="1100" b="1"/>
              <a:t>SK_ID_CURR</a:t>
            </a:r>
            <a:r>
              <a:rPr lang="en" sz="1100"/>
              <a:t>: Unique identifier for each application or customer.</a:t>
            </a:r>
            <a:endParaRPr sz="1100"/>
          </a:p>
          <a:p>
            <a:pPr marL="457200" lvl="0" indent="-298450" algn="l" rtl="0">
              <a:lnSpc>
                <a:spcPct val="115000"/>
              </a:lnSpc>
              <a:spcBef>
                <a:spcPts val="0"/>
              </a:spcBef>
              <a:spcAft>
                <a:spcPts val="0"/>
              </a:spcAft>
              <a:buSzPts val="1100"/>
              <a:buChar char="●"/>
            </a:pPr>
            <a:r>
              <a:rPr lang="en" sz="1100" b="1"/>
              <a:t>TARGET</a:t>
            </a:r>
            <a:r>
              <a:rPr lang="en" sz="1100"/>
              <a:t>: Whether the customer defaulted (1 = defaulted, 0 = not defaulted).</a:t>
            </a:r>
            <a:endParaRPr sz="1100"/>
          </a:p>
          <a:p>
            <a:pPr marL="457200" lvl="0" indent="-298450" algn="l" rtl="0">
              <a:lnSpc>
                <a:spcPct val="115000"/>
              </a:lnSpc>
              <a:spcBef>
                <a:spcPts val="0"/>
              </a:spcBef>
              <a:spcAft>
                <a:spcPts val="0"/>
              </a:spcAft>
              <a:buSzPts val="1100"/>
              <a:buChar char="●"/>
            </a:pPr>
            <a:r>
              <a:rPr lang="en" sz="1100" b="1"/>
              <a:t>AMT_INCOME_TOTAL</a:t>
            </a:r>
            <a:r>
              <a:rPr lang="en" sz="1100"/>
              <a:t>: Total income of the applicant.</a:t>
            </a:r>
            <a:endParaRPr sz="1100"/>
          </a:p>
          <a:p>
            <a:pPr marL="457200" lvl="0" indent="-298450" algn="l" rtl="0">
              <a:lnSpc>
                <a:spcPct val="115000"/>
              </a:lnSpc>
              <a:spcBef>
                <a:spcPts val="0"/>
              </a:spcBef>
              <a:spcAft>
                <a:spcPts val="0"/>
              </a:spcAft>
              <a:buSzPts val="1100"/>
              <a:buChar char="●"/>
            </a:pPr>
            <a:r>
              <a:rPr lang="en" sz="1100" b="1"/>
              <a:t>AMT_CREDIT</a:t>
            </a:r>
            <a:r>
              <a:rPr lang="en" sz="1100"/>
              <a:t>: Total credit amount used by the customer.</a:t>
            </a:r>
            <a:endParaRPr sz="1100"/>
          </a:p>
          <a:p>
            <a:pPr marL="457200" lvl="0" indent="-298450" algn="l" rtl="0">
              <a:lnSpc>
                <a:spcPct val="115000"/>
              </a:lnSpc>
              <a:spcBef>
                <a:spcPts val="0"/>
              </a:spcBef>
              <a:spcAft>
                <a:spcPts val="0"/>
              </a:spcAft>
              <a:buSzPts val="1100"/>
              <a:buChar char="●"/>
            </a:pPr>
            <a:r>
              <a:rPr lang="en" sz="1100" b="1"/>
              <a:t>EXTERNAL SOURCES</a:t>
            </a:r>
            <a:r>
              <a:rPr lang="en" sz="1100"/>
              <a:t>: Features like </a:t>
            </a:r>
            <a:r>
              <a:rPr lang="en" sz="1100">
                <a:solidFill>
                  <a:srgbClr val="188038"/>
                </a:solidFill>
                <a:latin typeface="Roboto Mono"/>
                <a:ea typeface="Roboto Mono"/>
                <a:cs typeface="Roboto Mono"/>
                <a:sym typeface="Roboto Mono"/>
              </a:rPr>
              <a:t>EXT_SOURCE_1</a:t>
            </a:r>
            <a:r>
              <a:rPr lang="en" sz="1100"/>
              <a:t>, </a:t>
            </a:r>
            <a:r>
              <a:rPr lang="en" sz="1100">
                <a:solidFill>
                  <a:srgbClr val="188038"/>
                </a:solidFill>
                <a:latin typeface="Roboto Mono"/>
                <a:ea typeface="Roboto Mono"/>
                <a:cs typeface="Roboto Mono"/>
                <a:sym typeface="Roboto Mono"/>
              </a:rPr>
              <a:t>EXT_SOURCE_2</a:t>
            </a:r>
            <a:r>
              <a:rPr lang="en" sz="1100"/>
              <a:t>, and </a:t>
            </a:r>
            <a:r>
              <a:rPr lang="en" sz="1100">
                <a:solidFill>
                  <a:srgbClr val="188038"/>
                </a:solidFill>
                <a:latin typeface="Roboto Mono"/>
                <a:ea typeface="Roboto Mono"/>
                <a:cs typeface="Roboto Mono"/>
                <a:sym typeface="Roboto Mono"/>
              </a:rPr>
              <a:t>EXT_SOURCE_3</a:t>
            </a:r>
            <a:r>
              <a:rPr lang="en" sz="1100"/>
              <a:t> might represent external credit risk factors or scores.</a:t>
            </a:r>
            <a:endParaRPr sz="1100"/>
          </a:p>
          <a:p>
            <a:pPr marL="0" lvl="0" indent="0" algn="l" rtl="0">
              <a:lnSpc>
                <a:spcPct val="115000"/>
              </a:lnSpc>
              <a:spcBef>
                <a:spcPts val="1200"/>
              </a:spcBef>
              <a:spcAft>
                <a:spcPts val="0"/>
              </a:spcAft>
              <a:buNone/>
            </a:pPr>
            <a:r>
              <a:rPr lang="en" sz="1100"/>
              <a:t>Some behavioral features, like DAYS_EMPLOYED, AMT_CREDIT, or EXT_SOURCE_1, was analyzed to understand financial behavior, which will inform certain elements of </a:t>
            </a:r>
            <a:r>
              <a:rPr lang="en" sz="1100" b="1"/>
              <a:t>fraudulent applications</a:t>
            </a:r>
            <a:r>
              <a:rPr lang="en" sz="1100"/>
              <a:t> or </a:t>
            </a:r>
            <a:r>
              <a:rPr lang="en" sz="1100" b="1"/>
              <a:t>credit misuse</a:t>
            </a:r>
            <a:r>
              <a:rPr lang="en" sz="1100"/>
              <a:t>.</a:t>
            </a:r>
            <a:endParaRPr sz="1100"/>
          </a:p>
          <a:p>
            <a:pPr marL="0" lvl="0" indent="0" algn="l" rtl="0">
              <a:lnSpc>
                <a:spcPct val="115000"/>
              </a:lnSpc>
              <a:spcBef>
                <a:spcPts val="1200"/>
              </a:spcBef>
              <a:spcAft>
                <a:spcPts val="0"/>
              </a:spcAft>
              <a:buNone/>
            </a:pPr>
            <a:endParaRPr sz="1100"/>
          </a:p>
          <a:p>
            <a:pPr marL="0" lvl="0" indent="0" algn="l" rtl="0">
              <a:spcBef>
                <a:spcPts val="1200"/>
              </a:spcBef>
              <a:spcAft>
                <a:spcPts val="0"/>
              </a:spcAft>
              <a:buNone/>
            </a:pPr>
            <a:endParaRPr sz="1300">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7"/>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ANALYSIS</a:t>
            </a:r>
            <a:endParaRPr/>
          </a:p>
        </p:txBody>
      </p:sp>
      <p:sp>
        <p:nvSpPr>
          <p:cNvPr id="153" name="Google Shape;153;p17"/>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a:solidFill>
                  <a:srgbClr val="000000"/>
                </a:solidFill>
                <a:latin typeface="Arial"/>
                <a:ea typeface="Arial"/>
                <a:cs typeface="Arial"/>
                <a:sym typeface="Arial"/>
              </a:rPr>
              <a:t>  </a:t>
            </a:r>
            <a:r>
              <a:rPr lang="en" sz="1100" b="1">
                <a:solidFill>
                  <a:srgbClr val="000000"/>
                </a:solidFill>
                <a:latin typeface="Arial"/>
                <a:ea typeface="Arial"/>
                <a:cs typeface="Arial"/>
                <a:sym typeface="Arial"/>
              </a:rPr>
              <a:t>Predictive Modeling</a:t>
            </a:r>
            <a:r>
              <a:rPr lang="en" sz="1100">
                <a:solidFill>
                  <a:srgbClr val="000000"/>
                </a:solidFill>
                <a:latin typeface="Arial"/>
                <a:ea typeface="Arial"/>
                <a:cs typeface="Arial"/>
                <a:sym typeface="Arial"/>
              </a:rPr>
              <a:t>: The target column (TARGET) was identified to be used for binary classification tasks to predict whether an customer is doing fraud or not..</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  </a:t>
            </a:r>
            <a:r>
              <a:rPr lang="en" sz="1100" b="1">
                <a:solidFill>
                  <a:srgbClr val="000000"/>
                </a:solidFill>
                <a:latin typeface="Arial"/>
                <a:ea typeface="Arial"/>
                <a:cs typeface="Arial"/>
                <a:sym typeface="Arial"/>
              </a:rPr>
              <a:t>Feature Engineering</a:t>
            </a:r>
            <a:r>
              <a:rPr lang="en" sz="1100">
                <a:solidFill>
                  <a:srgbClr val="000000"/>
                </a:solidFill>
                <a:latin typeface="Arial"/>
                <a:ea typeface="Arial"/>
                <a:cs typeface="Arial"/>
                <a:sym typeface="Arial"/>
              </a:rPr>
              <a:t>: the goal of us using feature engineering is to enhance the predictive power of or model by transforming raw data into formats or representations that better reveal the underlying patterns or relationships. Categorical columns (like NAME_CONTRACT_TYPE, CODE_GENDER) need encoding, while numerical columns might require normalization/scaling.</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  </a:t>
            </a:r>
            <a:r>
              <a:rPr lang="en" sz="1100" b="1">
                <a:solidFill>
                  <a:srgbClr val="000000"/>
                </a:solidFill>
                <a:latin typeface="Arial"/>
                <a:ea typeface="Arial"/>
                <a:cs typeface="Arial"/>
                <a:sym typeface="Arial"/>
              </a:rPr>
              <a:t>Data Preprocessing</a:t>
            </a:r>
            <a:r>
              <a:rPr lang="en" sz="1100">
                <a:solidFill>
                  <a:srgbClr val="000000"/>
                </a:solidFill>
                <a:latin typeface="Arial"/>
                <a:ea typeface="Arial"/>
                <a:cs typeface="Arial"/>
                <a:sym typeface="Arial"/>
              </a:rPr>
              <a:t>: Handle missing values, identify correlations, and clean data before applying any machine learning models.</a:t>
            </a:r>
            <a:endParaRPr sz="1100">
              <a:solidFill>
                <a:srgbClr val="000000"/>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8"/>
          <p:cNvSpPr txBox="1">
            <a:spLocks noGrp="1"/>
          </p:cNvSpPr>
          <p:nvPr>
            <p:ph type="title"/>
          </p:nvPr>
        </p:nvSpPr>
        <p:spPr>
          <a:xfrm>
            <a:off x="819150" y="174325"/>
            <a:ext cx="7505700" cy="566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Feature Engineering</a:t>
            </a:r>
            <a:endParaRPr/>
          </a:p>
        </p:txBody>
      </p:sp>
      <p:pic>
        <p:nvPicPr>
          <p:cNvPr id="159" name="Google Shape;159;p18"/>
          <p:cNvPicPr preferRelativeResize="0"/>
          <p:nvPr/>
        </p:nvPicPr>
        <p:blipFill>
          <a:blip r:embed="rId3">
            <a:alphaModFix/>
          </a:blip>
          <a:stretch>
            <a:fillRect/>
          </a:stretch>
        </p:blipFill>
        <p:spPr>
          <a:xfrm>
            <a:off x="4778350" y="2884375"/>
            <a:ext cx="3087890" cy="1930950"/>
          </a:xfrm>
          <a:prstGeom prst="rect">
            <a:avLst/>
          </a:prstGeom>
          <a:noFill/>
          <a:ln>
            <a:noFill/>
          </a:ln>
        </p:spPr>
      </p:pic>
      <p:pic>
        <p:nvPicPr>
          <p:cNvPr id="160" name="Google Shape;160;p18"/>
          <p:cNvPicPr preferRelativeResize="0"/>
          <p:nvPr/>
        </p:nvPicPr>
        <p:blipFill>
          <a:blip r:embed="rId4">
            <a:alphaModFix/>
          </a:blip>
          <a:stretch>
            <a:fillRect/>
          </a:stretch>
        </p:blipFill>
        <p:spPr>
          <a:xfrm>
            <a:off x="1644075" y="2884375"/>
            <a:ext cx="2988438" cy="1930951"/>
          </a:xfrm>
          <a:prstGeom prst="rect">
            <a:avLst/>
          </a:prstGeom>
          <a:noFill/>
          <a:ln>
            <a:noFill/>
          </a:ln>
        </p:spPr>
      </p:pic>
      <p:pic>
        <p:nvPicPr>
          <p:cNvPr id="161" name="Google Shape;161;p18"/>
          <p:cNvPicPr preferRelativeResize="0"/>
          <p:nvPr/>
        </p:nvPicPr>
        <p:blipFill>
          <a:blip r:embed="rId5">
            <a:alphaModFix/>
          </a:blip>
          <a:stretch>
            <a:fillRect/>
          </a:stretch>
        </p:blipFill>
        <p:spPr>
          <a:xfrm>
            <a:off x="4814837" y="934650"/>
            <a:ext cx="3014926" cy="1930950"/>
          </a:xfrm>
          <a:prstGeom prst="rect">
            <a:avLst/>
          </a:prstGeom>
          <a:noFill/>
          <a:ln>
            <a:noFill/>
          </a:ln>
        </p:spPr>
      </p:pic>
      <p:pic>
        <p:nvPicPr>
          <p:cNvPr id="162" name="Google Shape;162;p18"/>
          <p:cNvPicPr preferRelativeResize="0"/>
          <p:nvPr/>
        </p:nvPicPr>
        <p:blipFill>
          <a:blip r:embed="rId6">
            <a:alphaModFix/>
          </a:blip>
          <a:stretch>
            <a:fillRect/>
          </a:stretch>
        </p:blipFill>
        <p:spPr>
          <a:xfrm>
            <a:off x="1735950" y="980700"/>
            <a:ext cx="2896573" cy="1838850"/>
          </a:xfrm>
          <a:prstGeom prst="rect">
            <a:avLst/>
          </a:prstGeom>
          <a:noFill/>
          <a:ln>
            <a:noFill/>
          </a:ln>
        </p:spPr>
      </p:pic>
      <p:sp>
        <p:nvSpPr>
          <p:cNvPr id="163" name="Google Shape;163;p18"/>
          <p:cNvSpPr txBox="1"/>
          <p:nvPr/>
        </p:nvSpPr>
        <p:spPr>
          <a:xfrm>
            <a:off x="2991025" y="592525"/>
            <a:ext cx="2057400" cy="14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Before</a:t>
            </a:r>
            <a:endParaRPr sz="1800">
              <a:solidFill>
                <a:schemeClr val="dk2"/>
              </a:solidFill>
              <a:latin typeface="Calibri"/>
              <a:ea typeface="Calibri"/>
              <a:cs typeface="Calibri"/>
              <a:sym typeface="Calibri"/>
            </a:endParaRPr>
          </a:p>
        </p:txBody>
      </p:sp>
      <p:sp>
        <p:nvSpPr>
          <p:cNvPr id="164" name="Google Shape;164;p18"/>
          <p:cNvSpPr txBox="1"/>
          <p:nvPr/>
        </p:nvSpPr>
        <p:spPr>
          <a:xfrm>
            <a:off x="6105875" y="592525"/>
            <a:ext cx="995700" cy="24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After</a:t>
            </a:r>
            <a:endParaRPr sz="1800">
              <a:solidFill>
                <a:schemeClr val="dk2"/>
              </a:solidFill>
              <a:latin typeface="Calibri"/>
              <a:ea typeface="Calibri"/>
              <a:cs typeface="Calibri"/>
              <a:sym typeface="Calibri"/>
            </a:endParaRPr>
          </a:p>
        </p:txBody>
      </p:sp>
      <p:sp>
        <p:nvSpPr>
          <p:cNvPr id="165" name="Google Shape;165;p18"/>
          <p:cNvSpPr txBox="1"/>
          <p:nvPr/>
        </p:nvSpPr>
        <p:spPr>
          <a:xfrm>
            <a:off x="508725" y="1457625"/>
            <a:ext cx="1044900" cy="62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latin typeface="Calibri"/>
                <a:ea typeface="Calibri"/>
                <a:cs typeface="Calibri"/>
                <a:sym typeface="Calibri"/>
              </a:rPr>
              <a:t>KNN Imputation</a:t>
            </a:r>
            <a:endParaRPr sz="1300">
              <a:solidFill>
                <a:schemeClr val="dk2"/>
              </a:solidFill>
              <a:latin typeface="Calibri"/>
              <a:ea typeface="Calibri"/>
              <a:cs typeface="Calibri"/>
              <a:sym typeface="Calibri"/>
            </a:endParaRPr>
          </a:p>
        </p:txBody>
      </p:sp>
      <p:sp>
        <p:nvSpPr>
          <p:cNvPr id="166" name="Google Shape;166;p18"/>
          <p:cNvSpPr txBox="1"/>
          <p:nvPr/>
        </p:nvSpPr>
        <p:spPr>
          <a:xfrm>
            <a:off x="400475" y="3503325"/>
            <a:ext cx="1243800" cy="56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latin typeface="Calibri"/>
                <a:ea typeface="Calibri"/>
                <a:cs typeface="Calibri"/>
                <a:sym typeface="Calibri"/>
              </a:rPr>
              <a:t>Box-Cox Transformation</a:t>
            </a:r>
            <a:endParaRPr sz="13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Imbalanced Classes</a:t>
            </a:r>
            <a:endParaRPr/>
          </a:p>
        </p:txBody>
      </p:sp>
      <p:pic>
        <p:nvPicPr>
          <p:cNvPr id="172" name="Google Shape;172;p19"/>
          <p:cNvPicPr preferRelativeResize="0"/>
          <p:nvPr/>
        </p:nvPicPr>
        <p:blipFill>
          <a:blip r:embed="rId3">
            <a:alphaModFix/>
          </a:blip>
          <a:stretch>
            <a:fillRect/>
          </a:stretch>
        </p:blipFill>
        <p:spPr>
          <a:xfrm>
            <a:off x="1321375" y="1573775"/>
            <a:ext cx="4969713" cy="3038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0"/>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Undersampling/Oversampling</a:t>
            </a:r>
            <a:endParaRPr/>
          </a:p>
        </p:txBody>
      </p:sp>
      <p:pic>
        <p:nvPicPr>
          <p:cNvPr id="178" name="Google Shape;178;p20"/>
          <p:cNvPicPr preferRelativeResize="0"/>
          <p:nvPr/>
        </p:nvPicPr>
        <p:blipFill>
          <a:blip r:embed="rId3">
            <a:alphaModFix/>
          </a:blip>
          <a:stretch>
            <a:fillRect/>
          </a:stretch>
        </p:blipFill>
        <p:spPr>
          <a:xfrm>
            <a:off x="512388" y="1927699"/>
            <a:ext cx="8119225" cy="2435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1"/>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SMOTE</a:t>
            </a:r>
            <a:endParaRPr/>
          </a:p>
        </p:txBody>
      </p:sp>
      <p:pic>
        <p:nvPicPr>
          <p:cNvPr id="184" name="Google Shape;184;p21"/>
          <p:cNvPicPr preferRelativeResize="0"/>
          <p:nvPr/>
        </p:nvPicPr>
        <p:blipFill>
          <a:blip r:embed="rId3">
            <a:alphaModFix/>
          </a:blip>
          <a:stretch>
            <a:fillRect/>
          </a:stretch>
        </p:blipFill>
        <p:spPr>
          <a:xfrm>
            <a:off x="1183700" y="1554800"/>
            <a:ext cx="6667500" cy="29618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2"/>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ADASYN</a:t>
            </a:r>
            <a:endParaRPr/>
          </a:p>
        </p:txBody>
      </p:sp>
      <p:pic>
        <p:nvPicPr>
          <p:cNvPr id="190" name="Google Shape;190;p22"/>
          <p:cNvPicPr preferRelativeResize="0"/>
          <p:nvPr/>
        </p:nvPicPr>
        <p:blipFill>
          <a:blip r:embed="rId3">
            <a:alphaModFix/>
          </a:blip>
          <a:stretch>
            <a:fillRect/>
          </a:stretch>
        </p:blipFill>
        <p:spPr>
          <a:xfrm>
            <a:off x="1407975" y="1562950"/>
            <a:ext cx="1989622" cy="3038499"/>
          </a:xfrm>
          <a:prstGeom prst="rect">
            <a:avLst/>
          </a:prstGeom>
          <a:noFill/>
          <a:ln>
            <a:noFill/>
          </a:ln>
        </p:spPr>
      </p:pic>
      <p:pic>
        <p:nvPicPr>
          <p:cNvPr id="191" name="Google Shape;191;p22"/>
          <p:cNvPicPr preferRelativeResize="0"/>
          <p:nvPr/>
        </p:nvPicPr>
        <p:blipFill>
          <a:blip r:embed="rId4">
            <a:alphaModFix/>
          </a:blip>
          <a:stretch>
            <a:fillRect/>
          </a:stretch>
        </p:blipFill>
        <p:spPr>
          <a:xfrm>
            <a:off x="3788122" y="1562950"/>
            <a:ext cx="1906405" cy="3038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3"/>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Class Balance</a:t>
            </a:r>
            <a:endParaRPr/>
          </a:p>
        </p:txBody>
      </p:sp>
      <p:pic>
        <p:nvPicPr>
          <p:cNvPr id="197" name="Google Shape;197;p23"/>
          <p:cNvPicPr preferRelativeResize="0"/>
          <p:nvPr/>
        </p:nvPicPr>
        <p:blipFill>
          <a:blip r:embed="rId3">
            <a:alphaModFix/>
          </a:blip>
          <a:stretch>
            <a:fillRect/>
          </a:stretch>
        </p:blipFill>
        <p:spPr>
          <a:xfrm>
            <a:off x="888425" y="1953275"/>
            <a:ext cx="3489692" cy="2253525"/>
          </a:xfrm>
          <a:prstGeom prst="rect">
            <a:avLst/>
          </a:prstGeom>
          <a:noFill/>
          <a:ln>
            <a:noFill/>
          </a:ln>
        </p:spPr>
      </p:pic>
      <p:pic>
        <p:nvPicPr>
          <p:cNvPr id="198" name="Google Shape;198;p23"/>
          <p:cNvPicPr preferRelativeResize="0"/>
          <p:nvPr/>
        </p:nvPicPr>
        <p:blipFill>
          <a:blip r:embed="rId4">
            <a:alphaModFix/>
          </a:blip>
          <a:stretch>
            <a:fillRect/>
          </a:stretch>
        </p:blipFill>
        <p:spPr>
          <a:xfrm>
            <a:off x="4828962" y="403127"/>
            <a:ext cx="3348025" cy="2253517"/>
          </a:xfrm>
          <a:prstGeom prst="rect">
            <a:avLst/>
          </a:prstGeom>
          <a:noFill/>
          <a:ln>
            <a:noFill/>
          </a:ln>
        </p:spPr>
      </p:pic>
      <p:pic>
        <p:nvPicPr>
          <p:cNvPr id="199" name="Google Shape;199;p23"/>
          <p:cNvPicPr preferRelativeResize="0"/>
          <p:nvPr/>
        </p:nvPicPr>
        <p:blipFill>
          <a:blip r:embed="rId5">
            <a:alphaModFix/>
          </a:blip>
          <a:stretch>
            <a:fillRect/>
          </a:stretch>
        </p:blipFill>
        <p:spPr>
          <a:xfrm>
            <a:off x="4935550" y="2773676"/>
            <a:ext cx="3134851" cy="2149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Evaluation Metrics</a:t>
            </a:r>
            <a:endParaRPr/>
          </a:p>
        </p:txBody>
      </p:sp>
      <p:pic>
        <p:nvPicPr>
          <p:cNvPr id="205" name="Google Shape;205;p24"/>
          <p:cNvPicPr preferRelativeResize="0"/>
          <p:nvPr/>
        </p:nvPicPr>
        <p:blipFill>
          <a:blip r:embed="rId3">
            <a:alphaModFix/>
          </a:blip>
          <a:stretch>
            <a:fillRect/>
          </a:stretch>
        </p:blipFill>
        <p:spPr>
          <a:xfrm>
            <a:off x="1196575" y="1669200"/>
            <a:ext cx="3287928" cy="3038499"/>
          </a:xfrm>
          <a:prstGeom prst="rect">
            <a:avLst/>
          </a:prstGeom>
          <a:noFill/>
          <a:ln>
            <a:noFill/>
          </a:ln>
        </p:spPr>
      </p:pic>
      <p:pic>
        <p:nvPicPr>
          <p:cNvPr id="206" name="Google Shape;206;p24"/>
          <p:cNvPicPr preferRelativeResize="0"/>
          <p:nvPr/>
        </p:nvPicPr>
        <p:blipFill>
          <a:blip r:embed="rId4">
            <a:alphaModFix/>
          </a:blip>
          <a:stretch>
            <a:fillRect/>
          </a:stretch>
        </p:blipFill>
        <p:spPr>
          <a:xfrm>
            <a:off x="4572003" y="1669200"/>
            <a:ext cx="2908279" cy="3038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Evaluation Metrics</a:t>
            </a:r>
            <a:endParaRPr/>
          </a:p>
        </p:txBody>
      </p:sp>
      <p:pic>
        <p:nvPicPr>
          <p:cNvPr id="212" name="Google Shape;212;p25"/>
          <p:cNvPicPr preferRelativeResize="0"/>
          <p:nvPr/>
        </p:nvPicPr>
        <p:blipFill>
          <a:blip r:embed="rId3">
            <a:alphaModFix/>
          </a:blip>
          <a:stretch>
            <a:fillRect/>
          </a:stretch>
        </p:blipFill>
        <p:spPr>
          <a:xfrm>
            <a:off x="819150" y="1599350"/>
            <a:ext cx="4148722" cy="3038500"/>
          </a:xfrm>
          <a:prstGeom prst="rect">
            <a:avLst/>
          </a:prstGeom>
          <a:noFill/>
          <a:ln>
            <a:noFill/>
          </a:ln>
        </p:spPr>
      </p:pic>
      <p:pic>
        <p:nvPicPr>
          <p:cNvPr id="213" name="Google Shape;213;p25"/>
          <p:cNvPicPr preferRelativeResize="0"/>
          <p:nvPr/>
        </p:nvPicPr>
        <p:blipFill>
          <a:blip r:embed="rId4">
            <a:alphaModFix/>
          </a:blip>
          <a:stretch>
            <a:fillRect/>
          </a:stretch>
        </p:blipFill>
        <p:spPr>
          <a:xfrm>
            <a:off x="5120272" y="1599350"/>
            <a:ext cx="3502442" cy="30384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Models</a:t>
            </a:r>
            <a:endParaRPr/>
          </a:p>
        </p:txBody>
      </p:sp>
      <p:sp>
        <p:nvSpPr>
          <p:cNvPr id="219" name="Google Shape;219;p26"/>
          <p:cNvSpPr txBox="1">
            <a:spLocks noGrp="1"/>
          </p:cNvSpPr>
          <p:nvPr>
            <p:ph type="body" idx="1"/>
          </p:nvPr>
        </p:nvSpPr>
        <p:spPr>
          <a:xfrm>
            <a:off x="819150" y="1528275"/>
            <a:ext cx="7505700" cy="24480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KNN, Logistic Regression, Naive Bayes, Decision Tree, Random Forest, AdaBoost, and XGBoost</a:t>
            </a:r>
            <a:endParaRPr/>
          </a:p>
          <a:p>
            <a:pPr marL="457200" lvl="0" indent="-311150" algn="l" rtl="0">
              <a:spcBef>
                <a:spcPts val="0"/>
              </a:spcBef>
              <a:spcAft>
                <a:spcPts val="0"/>
              </a:spcAft>
              <a:buSzPts val="1300"/>
              <a:buChar char="●"/>
            </a:pPr>
            <a:r>
              <a:rPr lang="en"/>
              <a:t>All models trained on original data, SMOTE data and ADASYN data for comparison, but only tested on unaltered test set (20% of original data using a stratified train test split)</a:t>
            </a:r>
            <a:endParaRPr/>
          </a:p>
          <a:p>
            <a:pPr marL="457200" lvl="0" indent="-311150" algn="l" rtl="0">
              <a:spcBef>
                <a:spcPts val="0"/>
              </a:spcBef>
              <a:spcAft>
                <a:spcPts val="0"/>
              </a:spcAft>
              <a:buSzPts val="1300"/>
              <a:buChar char="●"/>
            </a:pPr>
            <a:r>
              <a:rPr lang="en"/>
              <a:t>Hyperparameter tuning was initially attempted using grid search, but could only test a limited number of combinations due to dataset size even with only 15% of the samples being used in training. This reduction in training samples resulted in relatively poor performance so default hyperparameters were used and the entire dataset was used for training.</a:t>
            </a:r>
            <a:endParaRPr/>
          </a:p>
        </p:txBody>
      </p:sp>
      <p:pic>
        <p:nvPicPr>
          <p:cNvPr id="220" name="Google Shape;220;p26" descr="building effective machine learning models"/>
          <p:cNvPicPr preferRelativeResize="0"/>
          <p:nvPr/>
        </p:nvPicPr>
        <p:blipFill>
          <a:blip r:embed="rId3">
            <a:alphaModFix/>
          </a:blip>
          <a:stretch>
            <a:fillRect/>
          </a:stretch>
        </p:blipFill>
        <p:spPr>
          <a:xfrm>
            <a:off x="5628600" y="3343301"/>
            <a:ext cx="2624975" cy="1541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7"/>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Results</a:t>
            </a:r>
            <a:endParaRPr/>
          </a:p>
        </p:txBody>
      </p:sp>
      <p:pic>
        <p:nvPicPr>
          <p:cNvPr id="226" name="Google Shape;226;p27"/>
          <p:cNvPicPr preferRelativeResize="0"/>
          <p:nvPr/>
        </p:nvPicPr>
        <p:blipFill>
          <a:blip r:embed="rId3">
            <a:alphaModFix/>
          </a:blip>
          <a:stretch>
            <a:fillRect/>
          </a:stretch>
        </p:blipFill>
        <p:spPr>
          <a:xfrm>
            <a:off x="2345175" y="503333"/>
            <a:ext cx="3253600" cy="998267"/>
          </a:xfrm>
          <a:prstGeom prst="rect">
            <a:avLst/>
          </a:prstGeom>
          <a:noFill/>
          <a:ln>
            <a:noFill/>
          </a:ln>
        </p:spPr>
      </p:pic>
      <p:pic>
        <p:nvPicPr>
          <p:cNvPr id="227" name="Google Shape;227;p27"/>
          <p:cNvPicPr preferRelativeResize="0"/>
          <p:nvPr/>
        </p:nvPicPr>
        <p:blipFill>
          <a:blip r:embed="rId4">
            <a:alphaModFix/>
          </a:blip>
          <a:stretch>
            <a:fillRect/>
          </a:stretch>
        </p:blipFill>
        <p:spPr>
          <a:xfrm>
            <a:off x="2136350" y="1691725"/>
            <a:ext cx="3253600" cy="1131050"/>
          </a:xfrm>
          <a:prstGeom prst="rect">
            <a:avLst/>
          </a:prstGeom>
          <a:noFill/>
          <a:ln>
            <a:noFill/>
          </a:ln>
        </p:spPr>
      </p:pic>
      <p:pic>
        <p:nvPicPr>
          <p:cNvPr id="228" name="Google Shape;228;p27"/>
          <p:cNvPicPr preferRelativeResize="0"/>
          <p:nvPr/>
        </p:nvPicPr>
        <p:blipFill>
          <a:blip r:embed="rId5">
            <a:alphaModFix/>
          </a:blip>
          <a:stretch>
            <a:fillRect/>
          </a:stretch>
        </p:blipFill>
        <p:spPr>
          <a:xfrm>
            <a:off x="2345175" y="3012906"/>
            <a:ext cx="3253600" cy="1029119"/>
          </a:xfrm>
          <a:prstGeom prst="rect">
            <a:avLst/>
          </a:prstGeom>
          <a:noFill/>
          <a:ln>
            <a:noFill/>
          </a:ln>
        </p:spPr>
      </p:pic>
      <p:pic>
        <p:nvPicPr>
          <p:cNvPr id="229" name="Google Shape;229;p27"/>
          <p:cNvPicPr preferRelativeResize="0"/>
          <p:nvPr/>
        </p:nvPicPr>
        <p:blipFill>
          <a:blip r:embed="rId6">
            <a:alphaModFix/>
          </a:blip>
          <a:stretch>
            <a:fillRect/>
          </a:stretch>
        </p:blipFill>
        <p:spPr>
          <a:xfrm>
            <a:off x="5598775" y="525159"/>
            <a:ext cx="3210284" cy="954600"/>
          </a:xfrm>
          <a:prstGeom prst="rect">
            <a:avLst/>
          </a:prstGeom>
          <a:noFill/>
          <a:ln>
            <a:noFill/>
          </a:ln>
        </p:spPr>
      </p:pic>
      <p:pic>
        <p:nvPicPr>
          <p:cNvPr id="230" name="Google Shape;230;p27"/>
          <p:cNvPicPr preferRelativeResize="0"/>
          <p:nvPr/>
        </p:nvPicPr>
        <p:blipFill>
          <a:blip r:embed="rId7">
            <a:alphaModFix/>
          </a:blip>
          <a:stretch>
            <a:fillRect/>
          </a:stretch>
        </p:blipFill>
        <p:spPr>
          <a:xfrm>
            <a:off x="5598784" y="1763897"/>
            <a:ext cx="3092559" cy="998275"/>
          </a:xfrm>
          <a:prstGeom prst="rect">
            <a:avLst/>
          </a:prstGeom>
          <a:noFill/>
          <a:ln>
            <a:noFill/>
          </a:ln>
        </p:spPr>
      </p:pic>
      <p:pic>
        <p:nvPicPr>
          <p:cNvPr id="231" name="Google Shape;231;p27"/>
          <p:cNvPicPr preferRelativeResize="0"/>
          <p:nvPr/>
        </p:nvPicPr>
        <p:blipFill>
          <a:blip r:embed="rId8">
            <a:alphaModFix/>
          </a:blip>
          <a:stretch>
            <a:fillRect/>
          </a:stretch>
        </p:blipFill>
        <p:spPr>
          <a:xfrm>
            <a:off x="5598775" y="3024465"/>
            <a:ext cx="3210275" cy="100598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8"/>
          <p:cNvSpPr txBox="1">
            <a:spLocks noGrp="1"/>
          </p:cNvSpPr>
          <p:nvPr>
            <p:ph type="title"/>
          </p:nvPr>
        </p:nvSpPr>
        <p:spPr>
          <a:xfrm>
            <a:off x="819150" y="42795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Results</a:t>
            </a:r>
            <a:endParaRPr/>
          </a:p>
        </p:txBody>
      </p:sp>
      <p:sp>
        <p:nvSpPr>
          <p:cNvPr id="237" name="Google Shape;237;p28"/>
          <p:cNvSpPr txBox="1">
            <a:spLocks noGrp="1"/>
          </p:cNvSpPr>
          <p:nvPr>
            <p:ph type="body" idx="1"/>
          </p:nvPr>
        </p:nvSpPr>
        <p:spPr>
          <a:xfrm>
            <a:off x="819150" y="991325"/>
            <a:ext cx="7505700" cy="24480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The Gaussian Naive Bayes classifier performed the best in terms of F2 score, but did so because it predicted default a very high percentage of the time, as shown in the confusion matrix on the left</a:t>
            </a:r>
            <a:endParaRPr/>
          </a:p>
          <a:p>
            <a:pPr marL="457200" lvl="0" indent="-311150" algn="l" rtl="0">
              <a:spcBef>
                <a:spcPts val="0"/>
              </a:spcBef>
              <a:spcAft>
                <a:spcPts val="0"/>
              </a:spcAft>
              <a:buSzPts val="1300"/>
              <a:buChar char="●"/>
            </a:pPr>
            <a:r>
              <a:rPr lang="en"/>
              <a:t>Using a Hybrid Naive Bayes classifier (uses Gaussian Naive Bayes for continuous features and Bernoulli Naive Bayes for binary features) with a larger smoothing parameter achieved a similar F2 score with a much more reasonable distribution of predicted classes, as shown in the confusion matrix on the right</a:t>
            </a:r>
            <a:endParaRPr/>
          </a:p>
        </p:txBody>
      </p:sp>
      <p:pic>
        <p:nvPicPr>
          <p:cNvPr id="238" name="Google Shape;238;p28"/>
          <p:cNvPicPr preferRelativeResize="0"/>
          <p:nvPr/>
        </p:nvPicPr>
        <p:blipFill>
          <a:blip r:embed="rId3">
            <a:alphaModFix/>
          </a:blip>
          <a:stretch>
            <a:fillRect/>
          </a:stretch>
        </p:blipFill>
        <p:spPr>
          <a:xfrm>
            <a:off x="4691500" y="2198950"/>
            <a:ext cx="3129874" cy="2652675"/>
          </a:xfrm>
          <a:prstGeom prst="rect">
            <a:avLst/>
          </a:prstGeom>
          <a:noFill/>
          <a:ln>
            <a:noFill/>
          </a:ln>
        </p:spPr>
      </p:pic>
      <p:pic>
        <p:nvPicPr>
          <p:cNvPr id="239" name="Google Shape;239;p28"/>
          <p:cNvPicPr preferRelativeResize="0"/>
          <p:nvPr/>
        </p:nvPicPr>
        <p:blipFill>
          <a:blip r:embed="rId4">
            <a:alphaModFix/>
          </a:blip>
          <a:stretch>
            <a:fillRect/>
          </a:stretch>
        </p:blipFill>
        <p:spPr>
          <a:xfrm>
            <a:off x="934450" y="2198950"/>
            <a:ext cx="3380824" cy="2704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9"/>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Conclusion</a:t>
            </a:r>
            <a:endParaRPr/>
          </a:p>
        </p:txBody>
      </p:sp>
      <p:sp>
        <p:nvSpPr>
          <p:cNvPr id="245" name="Google Shape;245;p29"/>
          <p:cNvSpPr txBox="1">
            <a:spLocks noGrp="1"/>
          </p:cNvSpPr>
          <p:nvPr>
            <p:ph type="body" idx="1"/>
          </p:nvPr>
        </p:nvSpPr>
        <p:spPr>
          <a:xfrm>
            <a:off x="819150" y="1722225"/>
            <a:ext cx="7505700" cy="2448000"/>
          </a:xfrm>
          <a:prstGeom prst="rect">
            <a:avLst/>
          </a:prstGeom>
        </p:spPr>
        <p:txBody>
          <a:bodyPr spcFirstLastPara="1" wrap="square" lIns="91425" tIns="91425" rIns="91425" bIns="91425" anchor="t" anchorCtr="0">
            <a:normAutofit lnSpcReduction="20000"/>
          </a:bodyPr>
          <a:lstStyle/>
          <a:p>
            <a:pPr marL="457200" lvl="0" indent="-311150" algn="l" rtl="0">
              <a:spcBef>
                <a:spcPts val="0"/>
              </a:spcBef>
              <a:spcAft>
                <a:spcPts val="0"/>
              </a:spcAft>
              <a:buSzPts val="1300"/>
              <a:buChar char="●"/>
            </a:pPr>
            <a:r>
              <a:rPr lang="en"/>
              <a:t>Naive Bayes performs extremely well in terms of recall and has the best F2 scores. It initially did so because of a disproportionately high predicted default rate, but this was improved using hybrid approach and larger smoothing parameter</a:t>
            </a:r>
            <a:endParaRPr/>
          </a:p>
          <a:p>
            <a:pPr marL="457200" lvl="0" indent="-311150" algn="l" rtl="0">
              <a:spcBef>
                <a:spcPts val="0"/>
              </a:spcBef>
              <a:spcAft>
                <a:spcPts val="0"/>
              </a:spcAft>
              <a:buSzPts val="1300"/>
              <a:buChar char="●"/>
            </a:pPr>
            <a:r>
              <a:rPr lang="en"/>
              <a:t>More complex models that perform better in most circumstances, especially XGBoost struggled</a:t>
            </a:r>
            <a:endParaRPr/>
          </a:p>
          <a:p>
            <a:pPr marL="457200" lvl="0" indent="-311150" algn="l" rtl="0">
              <a:spcBef>
                <a:spcPts val="0"/>
              </a:spcBef>
              <a:spcAft>
                <a:spcPts val="0"/>
              </a:spcAft>
              <a:buSzPts val="1300"/>
              <a:buChar char="●"/>
            </a:pPr>
            <a:r>
              <a:rPr lang="en"/>
              <a:t>Models trained on SMOTE and ADASYN data performed better in terms of F2 score than those trained on original data, especially pronounced for KNN because SMOTE and ADASYN generate nearby neighbors of the same class</a:t>
            </a:r>
            <a:endParaRPr/>
          </a:p>
          <a:p>
            <a:pPr marL="457200" lvl="0" indent="-311150" algn="l" rtl="0">
              <a:spcBef>
                <a:spcPts val="0"/>
              </a:spcBef>
              <a:spcAft>
                <a:spcPts val="0"/>
              </a:spcAft>
              <a:buSzPts val="1300"/>
              <a:buChar char="●"/>
            </a:pPr>
            <a:r>
              <a:rPr lang="en"/>
              <a:t>Possible directions for improvement/What could’ve been done differently:</a:t>
            </a:r>
            <a:endParaRPr/>
          </a:p>
          <a:p>
            <a:pPr marL="914400" lvl="1" indent="-298450" algn="l" rtl="0">
              <a:spcBef>
                <a:spcPts val="0"/>
              </a:spcBef>
              <a:spcAft>
                <a:spcPts val="0"/>
              </a:spcAft>
              <a:buSzPts val="1100"/>
              <a:buChar char="○"/>
            </a:pPr>
            <a:r>
              <a:rPr lang="en"/>
              <a:t>Ordinal encodings for features like education level</a:t>
            </a:r>
            <a:endParaRPr/>
          </a:p>
          <a:p>
            <a:pPr marL="914400" lvl="1" indent="-298450" algn="l" rtl="0">
              <a:spcBef>
                <a:spcPts val="0"/>
              </a:spcBef>
              <a:spcAft>
                <a:spcPts val="0"/>
              </a:spcAft>
              <a:buSzPts val="1100"/>
              <a:buChar char="○"/>
            </a:pPr>
            <a:r>
              <a:rPr lang="en"/>
              <a:t>More time spent tuning hyperparameters</a:t>
            </a:r>
            <a:endParaRPr/>
          </a:p>
          <a:p>
            <a:pPr marL="914400" lvl="1" indent="-298450" algn="l" rtl="0">
              <a:spcBef>
                <a:spcPts val="0"/>
              </a:spcBef>
              <a:spcAft>
                <a:spcPts val="0"/>
              </a:spcAft>
              <a:buSzPts val="1100"/>
              <a:buChar char="○"/>
            </a:pPr>
            <a:r>
              <a:rPr lang="en"/>
              <a:t>Examining different classification thresholds</a:t>
            </a:r>
            <a:endParaRPr/>
          </a:p>
          <a:p>
            <a:pPr marL="914400" lvl="1" indent="-298450" algn="l" rtl="0">
              <a:spcBef>
                <a:spcPts val="0"/>
              </a:spcBef>
              <a:spcAft>
                <a:spcPts val="0"/>
              </a:spcAft>
              <a:buSzPts val="1100"/>
              <a:buChar char="○"/>
            </a:pPr>
            <a:r>
              <a:rPr lang="en"/>
              <a:t>Analysis of feature importances</a:t>
            </a:r>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820</Words>
  <Application>Microsoft Office PowerPoint</Application>
  <PresentationFormat>On-screen Show (16:9)</PresentationFormat>
  <Paragraphs>54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Nunito</vt:lpstr>
      <vt:lpstr>Roboto Mono</vt:lpstr>
      <vt:lpstr>Arial</vt:lpstr>
      <vt:lpstr>Calibri</vt:lpstr>
      <vt:lpstr>Shift</vt:lpstr>
      <vt:lpstr>Predicting Credit Defaults Using Imbalanced Data Techniques</vt:lpstr>
      <vt:lpstr>Introduction</vt:lpstr>
      <vt:lpstr>Dataset Structure</vt:lpstr>
      <vt:lpstr>ANALYSIS</vt:lpstr>
      <vt:lpstr>Feature Engineering</vt:lpstr>
      <vt:lpstr>Imbalanced Classes</vt:lpstr>
      <vt:lpstr>Undersampling/Oversampling</vt:lpstr>
      <vt:lpstr>SMOTE</vt:lpstr>
      <vt:lpstr>ADASYN</vt:lpstr>
      <vt:lpstr>Class Balance</vt:lpstr>
      <vt:lpstr>Evaluation Metrics</vt:lpstr>
      <vt:lpstr>Evaluation Metrics</vt:lpstr>
      <vt:lpstr>Models</vt:lpstr>
      <vt:lpstr>Results</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Ojemann</cp:lastModifiedBy>
  <cp:revision>2</cp:revision>
  <dcterms:modified xsi:type="dcterms:W3CDTF">2025-02-01T06:19:35Z</dcterms:modified>
</cp:coreProperties>
</file>