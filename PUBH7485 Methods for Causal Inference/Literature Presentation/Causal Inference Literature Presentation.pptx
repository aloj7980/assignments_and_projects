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Roboto"/>
      <p:regular r:id="rId14"/>
      <p:bold r:id="rId15"/>
      <p:italic r:id="rId16"/>
      <p:bold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oboto-bold.fntdata"/><Relationship Id="rId14" Type="http://schemas.openxmlformats.org/officeDocument/2006/relationships/font" Target="fonts/Roboto-regular.fntdata"/><Relationship Id="rId17" Type="http://schemas.openxmlformats.org/officeDocument/2006/relationships/font" Target="fonts/Roboto-boldItalic.fntdata"/><Relationship Id="rId16" Type="http://schemas.openxmlformats.org/officeDocument/2006/relationships/font" Target="fonts/Robo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c6f9e470d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c6f9e470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1ad0c80968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1ad0c80968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1ad0c80968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1ad0c80968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1ad0c80968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1ad0c80968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1ad0c8096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1ad0c8096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1ad0c80968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1ad0c80968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1ad0c80968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1ad0c80968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1ad0c80968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1ad0c80968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1600"/>
              </a:spcBef>
              <a:spcAft>
                <a:spcPts val="0"/>
              </a:spcAft>
              <a:buClr>
                <a:schemeClr val="lt1"/>
              </a:buClr>
              <a:buSzPts val="1400"/>
              <a:buChar char="○"/>
              <a:defRPr>
                <a:solidFill>
                  <a:schemeClr val="lt1"/>
                </a:solidFill>
              </a:defRPr>
            </a:lvl2pPr>
            <a:lvl3pPr indent="-317500" lvl="2" marL="1371600" algn="ctr">
              <a:spcBef>
                <a:spcPts val="1600"/>
              </a:spcBef>
              <a:spcAft>
                <a:spcPts val="0"/>
              </a:spcAft>
              <a:buClr>
                <a:schemeClr val="lt1"/>
              </a:buClr>
              <a:buSzPts val="1400"/>
              <a:buChar char="■"/>
              <a:defRPr>
                <a:solidFill>
                  <a:schemeClr val="lt1"/>
                </a:solidFill>
              </a:defRPr>
            </a:lvl3pPr>
            <a:lvl4pPr indent="-317500" lvl="3" marL="1828800" algn="ctr">
              <a:spcBef>
                <a:spcPts val="1600"/>
              </a:spcBef>
              <a:spcAft>
                <a:spcPts val="0"/>
              </a:spcAft>
              <a:buClr>
                <a:schemeClr val="lt1"/>
              </a:buClr>
              <a:buSzPts val="1400"/>
              <a:buChar char="●"/>
              <a:defRPr>
                <a:solidFill>
                  <a:schemeClr val="lt1"/>
                </a:solidFill>
              </a:defRPr>
            </a:lvl4pPr>
            <a:lvl5pPr indent="-317500" lvl="4" marL="2286000" algn="ctr">
              <a:spcBef>
                <a:spcPts val="1600"/>
              </a:spcBef>
              <a:spcAft>
                <a:spcPts val="0"/>
              </a:spcAft>
              <a:buClr>
                <a:schemeClr val="lt1"/>
              </a:buClr>
              <a:buSzPts val="1400"/>
              <a:buChar char="○"/>
              <a:defRPr>
                <a:solidFill>
                  <a:schemeClr val="lt1"/>
                </a:solidFill>
              </a:defRPr>
            </a:lvl5pPr>
            <a:lvl6pPr indent="-317500" lvl="5" marL="2743200" algn="ctr">
              <a:spcBef>
                <a:spcPts val="1600"/>
              </a:spcBef>
              <a:spcAft>
                <a:spcPts val="0"/>
              </a:spcAft>
              <a:buClr>
                <a:schemeClr val="lt1"/>
              </a:buClr>
              <a:buSzPts val="1400"/>
              <a:buChar char="■"/>
              <a:defRPr>
                <a:solidFill>
                  <a:schemeClr val="lt1"/>
                </a:solidFill>
              </a:defRPr>
            </a:lvl6pPr>
            <a:lvl7pPr indent="-317500" lvl="6" marL="3200400" algn="ctr">
              <a:spcBef>
                <a:spcPts val="1600"/>
              </a:spcBef>
              <a:spcAft>
                <a:spcPts val="0"/>
              </a:spcAft>
              <a:buClr>
                <a:schemeClr val="lt1"/>
              </a:buClr>
              <a:buSzPts val="1400"/>
              <a:buChar char="●"/>
              <a:defRPr>
                <a:solidFill>
                  <a:schemeClr val="lt1"/>
                </a:solidFill>
              </a:defRPr>
            </a:lvl7pPr>
            <a:lvl8pPr indent="-317500" lvl="7" marL="3657600" algn="ctr">
              <a:spcBef>
                <a:spcPts val="1600"/>
              </a:spcBef>
              <a:spcAft>
                <a:spcPts val="0"/>
              </a:spcAft>
              <a:buClr>
                <a:schemeClr val="lt1"/>
              </a:buClr>
              <a:buSzPts val="1400"/>
              <a:buChar char="○"/>
              <a:defRPr>
                <a:solidFill>
                  <a:schemeClr val="lt1"/>
                </a:solidFill>
              </a:defRPr>
            </a:lvl8pPr>
            <a:lvl9pPr indent="-317500" lvl="8" marL="4114800" algn="ctr">
              <a:spcBef>
                <a:spcPts val="1600"/>
              </a:spcBef>
              <a:spcAft>
                <a:spcPts val="160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1600"/>
              </a:spcBef>
              <a:spcAft>
                <a:spcPts val="160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txBox="1"/>
          <p:nvPr>
            <p:ph type="ctrTitle"/>
          </p:nvPr>
        </p:nvSpPr>
        <p:spPr>
          <a:xfrm>
            <a:off x="460950" y="2043822"/>
            <a:ext cx="8222100" cy="838800"/>
          </a:xfrm>
          <a:prstGeom prst="rect">
            <a:avLst/>
          </a:prstGeom>
        </p:spPr>
        <p:txBody>
          <a:bodyPr anchorCtr="0" anchor="b" bIns="91425" lIns="91425" spcFirstLastPara="1" rIns="91425" wrap="square" tIns="91425">
            <a:noAutofit/>
          </a:bodyPr>
          <a:lstStyle/>
          <a:p>
            <a:pPr indent="0" lvl="0" marL="0" rtl="0" algn="l">
              <a:lnSpc>
                <a:spcPct val="115000"/>
              </a:lnSpc>
              <a:spcBef>
                <a:spcPts val="2400"/>
              </a:spcBef>
              <a:spcAft>
                <a:spcPts val="600"/>
              </a:spcAft>
              <a:buNone/>
            </a:pPr>
            <a:r>
              <a:rPr lang="en" sz="2300">
                <a:solidFill>
                  <a:srgbClr val="FFFFFF"/>
                </a:solidFill>
                <a:latin typeface="Arial"/>
                <a:ea typeface="Arial"/>
                <a:cs typeface="Arial"/>
                <a:sym typeface="Arial"/>
              </a:rPr>
              <a:t>Regional and Local Economic Effects from Proximity of High-Speed Rail Stations in Japan: Difference-in-Differences and Propensity Score Matching Analysis</a:t>
            </a:r>
            <a:endParaRPr>
              <a:solidFill>
                <a:srgbClr val="FFFFFF"/>
              </a:solidFill>
            </a:endParaRPr>
          </a:p>
        </p:txBody>
      </p:sp>
      <p:sp>
        <p:nvSpPr>
          <p:cNvPr id="86" name="Google Shape;86;p13"/>
          <p:cNvSpPr txBox="1"/>
          <p:nvPr>
            <p:ph idx="1" type="subTitle"/>
          </p:nvPr>
        </p:nvSpPr>
        <p:spPr>
          <a:xfrm>
            <a:off x="521263" y="3319838"/>
            <a:ext cx="8222100" cy="43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Written by Jetpan Wetwitoo and Hironori Kato</a:t>
            </a:r>
            <a:endParaRPr/>
          </a:p>
          <a:p>
            <a:pPr indent="0" lvl="0" marL="0" rtl="0" algn="l">
              <a:spcBef>
                <a:spcPts val="0"/>
              </a:spcBef>
              <a:spcAft>
                <a:spcPts val="0"/>
              </a:spcAft>
              <a:buNone/>
            </a:pPr>
            <a:r>
              <a:rPr lang="en"/>
              <a:t>Presented by Alex Ojemann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4"/>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Background</a:t>
            </a:r>
            <a:endParaRPr/>
          </a:p>
        </p:txBody>
      </p:sp>
      <p:sp>
        <p:nvSpPr>
          <p:cNvPr id="92" name="Google Shape;92;p14"/>
          <p:cNvSpPr txBox="1"/>
          <p:nvPr>
            <p:ph idx="1" type="body"/>
          </p:nvPr>
        </p:nvSpPr>
        <p:spPr>
          <a:xfrm>
            <a:off x="311700" y="1229875"/>
            <a:ext cx="8520600" cy="3339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High Speed Rail (HSR) can be a relatively cheap and environmentally friendly method of long distance travel</a:t>
            </a:r>
            <a:endParaRPr/>
          </a:p>
          <a:p>
            <a:pPr indent="-342900" lvl="0" marL="457200" rtl="0" algn="l">
              <a:spcBef>
                <a:spcPts val="0"/>
              </a:spcBef>
              <a:spcAft>
                <a:spcPts val="0"/>
              </a:spcAft>
              <a:buSzPts val="1800"/>
              <a:buChar char="●"/>
            </a:pPr>
            <a:r>
              <a:rPr lang="en"/>
              <a:t>However, building and maintaining it can be extremely costly, so it must be justified by significant economic benefit</a:t>
            </a:r>
            <a:endParaRPr/>
          </a:p>
          <a:p>
            <a:pPr indent="-342900" lvl="0" marL="457200" rtl="0" algn="l">
              <a:spcBef>
                <a:spcPts val="0"/>
              </a:spcBef>
              <a:spcAft>
                <a:spcPts val="0"/>
              </a:spcAft>
              <a:buSzPts val="1800"/>
              <a:buChar char="●"/>
            </a:pPr>
            <a:r>
              <a:rPr lang="en"/>
              <a:t>Japan has been one of the most successful nations at building HSR, but studies on its economic impact yield mixed results</a:t>
            </a:r>
            <a:endParaRPr/>
          </a:p>
          <a:p>
            <a:pPr indent="-342900" lvl="0" marL="457200" rtl="0" algn="l">
              <a:spcBef>
                <a:spcPts val="0"/>
              </a:spcBef>
              <a:spcAft>
                <a:spcPts val="0"/>
              </a:spcAft>
              <a:buSzPts val="1800"/>
              <a:buChar char="●"/>
            </a:pPr>
            <a:r>
              <a:rPr lang="en"/>
              <a:t>This study uses a causal inference techniques to estimate the economic impact of some of the newer </a:t>
            </a:r>
            <a:r>
              <a:rPr lang="en"/>
              <a:t>extensions</a:t>
            </a:r>
            <a:r>
              <a:rPr lang="en"/>
              <a:t> to Japan’s HSR network</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5"/>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Study Design</a:t>
            </a:r>
            <a:endParaRPr/>
          </a:p>
        </p:txBody>
      </p:sp>
      <p:sp>
        <p:nvSpPr>
          <p:cNvPr id="98" name="Google Shape;98;p15"/>
          <p:cNvSpPr txBox="1"/>
          <p:nvPr>
            <p:ph idx="1" type="body"/>
          </p:nvPr>
        </p:nvSpPr>
        <p:spPr>
          <a:xfrm>
            <a:off x="311700" y="1229875"/>
            <a:ext cx="8520600" cy="3339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Estimating effect of having a HSR in or near a region on economic measures</a:t>
            </a:r>
            <a:endParaRPr/>
          </a:p>
          <a:p>
            <a:pPr indent="-342900" lvl="0" marL="457200" rtl="0" algn="l">
              <a:spcBef>
                <a:spcPts val="0"/>
              </a:spcBef>
              <a:spcAft>
                <a:spcPts val="0"/>
              </a:spcAft>
              <a:buSzPts val="1800"/>
              <a:buChar char="●"/>
            </a:pPr>
            <a:r>
              <a:rPr lang="en"/>
              <a:t>Includes models to estimate both the difference in means (ATT in this case) and the difference in the change in means over time</a:t>
            </a:r>
            <a:endParaRPr/>
          </a:p>
          <a:p>
            <a:pPr indent="-342900" lvl="0" marL="457200" rtl="0" algn="l">
              <a:spcBef>
                <a:spcPts val="0"/>
              </a:spcBef>
              <a:spcAft>
                <a:spcPts val="0"/>
              </a:spcAft>
              <a:buSzPts val="1800"/>
              <a:buChar char="●"/>
            </a:pPr>
            <a:r>
              <a:rPr lang="en"/>
              <a:t>Includes models at both the prefecture level and the municipality level with necessary modifications</a:t>
            </a:r>
            <a:endParaRPr/>
          </a:p>
          <a:p>
            <a:pPr indent="-317500" lvl="1" marL="914400" rtl="0" algn="l">
              <a:spcBef>
                <a:spcPts val="0"/>
              </a:spcBef>
              <a:spcAft>
                <a:spcPts val="0"/>
              </a:spcAft>
              <a:buSzPts val="1400"/>
              <a:buChar char="○"/>
            </a:pPr>
            <a:r>
              <a:rPr lang="en"/>
              <a:t>Outcome for prefectures: GRP</a:t>
            </a:r>
            <a:endParaRPr/>
          </a:p>
          <a:p>
            <a:pPr indent="-317500" lvl="1" marL="914400" rtl="0" algn="l">
              <a:spcBef>
                <a:spcPts val="0"/>
              </a:spcBef>
              <a:spcAft>
                <a:spcPts val="0"/>
              </a:spcAft>
              <a:buSzPts val="1400"/>
              <a:buChar char="○"/>
            </a:pPr>
            <a:r>
              <a:rPr lang="en"/>
              <a:t>Outcome for municipalities: Tax revenue</a:t>
            </a:r>
            <a:endParaRPr/>
          </a:p>
          <a:p>
            <a:pPr indent="-342900" lvl="0" marL="457200" rtl="0" algn="l">
              <a:spcBef>
                <a:spcPts val="0"/>
              </a:spcBef>
              <a:spcAft>
                <a:spcPts val="0"/>
              </a:spcAft>
              <a:buSzPts val="1800"/>
              <a:buChar char="●"/>
            </a:pPr>
            <a:r>
              <a:rPr lang="en"/>
              <a:t>Two control groups: one in which HSR never existed (Control Group 1) and one in which HSR existed before study (Control Group 2)</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6"/>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Methods/Results</a:t>
            </a:r>
            <a:endParaRPr/>
          </a:p>
        </p:txBody>
      </p:sp>
      <p:sp>
        <p:nvSpPr>
          <p:cNvPr id="104" name="Google Shape;104;p16"/>
          <p:cNvSpPr txBox="1"/>
          <p:nvPr>
            <p:ph idx="1" type="body"/>
          </p:nvPr>
        </p:nvSpPr>
        <p:spPr>
          <a:xfrm>
            <a:off x="311700" y="1229875"/>
            <a:ext cx="8520600" cy="3339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1:1 Propensity score matching used for ATT estimates for prefecture model</a:t>
            </a:r>
            <a:endParaRPr/>
          </a:p>
          <a:p>
            <a:pPr indent="-317500" lvl="1" marL="914400" rtl="0" algn="l">
              <a:spcBef>
                <a:spcPts val="0"/>
              </a:spcBef>
              <a:spcAft>
                <a:spcPts val="0"/>
              </a:spcAft>
              <a:buSzPts val="1400"/>
              <a:buChar char="○"/>
            </a:pPr>
            <a:r>
              <a:rPr lang="en"/>
              <a:t>1:1 ratio is used due to limited number of prefectures</a:t>
            </a:r>
            <a:endParaRPr/>
          </a:p>
          <a:p>
            <a:pPr indent="-342900" lvl="0" marL="457200" rtl="0" algn="l">
              <a:spcBef>
                <a:spcPts val="0"/>
              </a:spcBef>
              <a:spcAft>
                <a:spcPts val="0"/>
              </a:spcAft>
              <a:buSzPts val="1800"/>
              <a:buChar char="●"/>
            </a:pPr>
            <a:r>
              <a:rPr lang="en"/>
              <a:t>Regression adjustment used to estimate difference in change of means over time</a:t>
            </a:r>
            <a:endParaRPr/>
          </a:p>
          <a:p>
            <a:pPr indent="-317500" lvl="1" marL="914400" rtl="0" algn="l">
              <a:spcBef>
                <a:spcPts val="0"/>
              </a:spcBef>
              <a:spcAft>
                <a:spcPts val="0"/>
              </a:spcAft>
              <a:buSzPts val="1400"/>
              <a:buChar char="○"/>
            </a:pPr>
            <a:r>
              <a:rPr lang="en"/>
              <a:t>Difference in change of means over time is represented by an interaction term between time and treatment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7"/>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7"/>
          <p:cNvSpPr txBox="1"/>
          <p:nvPr>
            <p:ph idx="1" type="body"/>
          </p:nvPr>
        </p:nvSpPr>
        <p:spPr>
          <a:xfrm>
            <a:off x="311700" y="1229875"/>
            <a:ext cx="8520600" cy="3339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11" name="Google Shape;111;p17"/>
          <p:cNvPicPr preferRelativeResize="0"/>
          <p:nvPr/>
        </p:nvPicPr>
        <p:blipFill>
          <a:blip r:embed="rId3">
            <a:alphaModFix/>
          </a:blip>
          <a:stretch>
            <a:fillRect/>
          </a:stretch>
        </p:blipFill>
        <p:spPr>
          <a:xfrm>
            <a:off x="0" y="11276"/>
            <a:ext cx="9144001" cy="512094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18"/>
          <p:cNvPicPr preferRelativeResize="0"/>
          <p:nvPr/>
        </p:nvPicPr>
        <p:blipFill>
          <a:blip r:embed="rId3">
            <a:alphaModFix/>
          </a:blip>
          <a:stretch>
            <a:fillRect/>
          </a:stretch>
        </p:blipFill>
        <p:spPr>
          <a:xfrm>
            <a:off x="1130220" y="0"/>
            <a:ext cx="6883561" cy="51435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pic>
        <p:nvPicPr>
          <p:cNvPr id="121" name="Google Shape;121;p19"/>
          <p:cNvPicPr preferRelativeResize="0"/>
          <p:nvPr/>
        </p:nvPicPr>
        <p:blipFill>
          <a:blip r:embed="rId3">
            <a:alphaModFix/>
          </a:blip>
          <a:stretch>
            <a:fillRect/>
          </a:stretch>
        </p:blipFill>
        <p:spPr>
          <a:xfrm>
            <a:off x="152400" y="152400"/>
            <a:ext cx="8839199" cy="440814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0"/>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Discussion/Limitations</a:t>
            </a:r>
            <a:endParaRPr/>
          </a:p>
        </p:txBody>
      </p:sp>
      <p:sp>
        <p:nvSpPr>
          <p:cNvPr id="127" name="Google Shape;127;p20"/>
          <p:cNvSpPr txBox="1"/>
          <p:nvPr>
            <p:ph idx="1" type="body"/>
          </p:nvPr>
        </p:nvSpPr>
        <p:spPr>
          <a:xfrm>
            <a:off x="311700" y="1229875"/>
            <a:ext cx="8520600" cy="3339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There is no significant economic boost due to the presence of nearby HSR services based on these results</a:t>
            </a:r>
            <a:endParaRPr/>
          </a:p>
          <a:p>
            <a:pPr indent="-342900" lvl="0" marL="457200" rtl="0" algn="l">
              <a:spcBef>
                <a:spcPts val="0"/>
              </a:spcBef>
              <a:spcAft>
                <a:spcPts val="0"/>
              </a:spcAft>
              <a:buSzPts val="1800"/>
              <a:buChar char="●"/>
            </a:pPr>
            <a:r>
              <a:rPr lang="en"/>
              <a:t>In the big picture, this is particularly notable because Japan has been far more effective than many other nations in the development of HSR but are still not seeing conclusive economic benefits</a:t>
            </a:r>
            <a:endParaRPr/>
          </a:p>
          <a:p>
            <a:pPr indent="-342900" lvl="0" marL="457200" rtl="0" algn="l">
              <a:spcBef>
                <a:spcPts val="0"/>
              </a:spcBef>
              <a:spcAft>
                <a:spcPts val="0"/>
              </a:spcAft>
              <a:buSzPts val="1800"/>
              <a:buChar char="●"/>
            </a:pPr>
            <a:r>
              <a:rPr lang="en"/>
              <a:t>One important limitation that the authors note of the study is that many of the HSR lines are still very new and have not had time to potentially affect economic development yet, particularly in the municipality case</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